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6" r:id="rId5"/>
    <p:sldId id="258" r:id="rId6"/>
    <p:sldId id="259" r:id="rId7"/>
    <p:sldId id="260" r:id="rId8"/>
    <p:sldId id="261" r:id="rId9"/>
    <p:sldId id="262" r:id="rId10"/>
    <p:sldId id="263" r:id="rId11"/>
    <p:sldId id="264" r:id="rId12"/>
    <p:sldId id="265" r:id="rId13"/>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285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228"/>
        <p:guide pos="2851"/>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8000" y="317500"/>
            <a:ext cx="11176000" cy="6223000"/>
          </a:xfrm>
          <a:prstGeom prst="roundRect">
            <a:avLst/>
          </a:prstGeom>
          <a:solidFill>
            <a:srgbClr val="F7F3EB"/>
          </a:solidFill>
          <a:ln w="1270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500" y="533400"/>
            <a:ext cx="2857500" cy="304800"/>
          </a:xfrm>
          <a:prstGeom prst="roundRect">
            <a:avLst/>
          </a:prstGeom>
          <a:noFill/>
          <a:extLst>
            <a:ext uri="{909E8E84-426E-40DD-AFC4-6F175D3DCCD1}">
              <a14:hiddenFill xmlns:a14="http://schemas.microsoft.com/office/drawing/2010/main">
                <a:solidFill>
                  <a:schemeClr val="accent1"/>
                </a:solidFill>
              </a14:hiddenFill>
            </a:ext>
          </a:extLst>
        </p:spPr>
        <p:style>
          <a:lnRef idx="0">
            <a:srgbClr val="FFFFFF"/>
          </a:lnRef>
          <a:fillRef idx="1">
            <a:schemeClr val="accent1"/>
          </a:fillRef>
          <a:effectRef idx="0">
            <a:srgbClr val="FFFFFF"/>
          </a:effectRef>
          <a:fontRef idx="minor">
            <a:schemeClr val="lt1"/>
          </a:fontRef>
        </p:style>
        <p:txBody>
          <a:bodyPr wrap="none" lIns="101600" tIns="25400" rIns="101600" bIns="25400" rtlCol="0" anchor="ctr"/>
          <a:lstStyle/>
          <a:p>
            <a:pPr algn="ctr">
              <a:defRPr sz="850" b="1">
                <a:solidFill>
                  <a:srgbClr val="F7F3EB"/>
                </a:solidFill>
                <a:latin typeface="Segoe UI" panose="020B0502040204020203"/>
              </a:defRPr>
            </a:pPr>
            <a:r>
              <a:t>MAJOR PROJECT EVALUATION • 2026</a:t>
            </a:r>
          </a:p>
        </p:txBody>
      </p:sp>
      <p:sp>
        <p:nvSpPr>
          <p:cNvPr id="6" name="TextBox 5"/>
          <p:cNvSpPr txBox="1"/>
          <p:nvPr/>
        </p:nvSpPr>
        <p:spPr>
          <a:xfrm>
            <a:off x="825500" y="914400"/>
            <a:ext cx="10541000" cy="990600"/>
          </a:xfrm>
          <a:prstGeom prst="rect">
            <a:avLst/>
          </a:prstGeom>
          <a:noFill/>
        </p:spPr>
        <p:txBody>
          <a:bodyPr wrap="square" lIns="0" tIns="0" rIns="0" bIns="0">
            <a:spAutoFit/>
          </a:bodyPr>
          <a:lstStyle/>
          <a:p>
            <a:pPr>
              <a:spcAft>
                <a:spcPts val="200"/>
              </a:spcAft>
              <a:defRPr sz="2800" b="1">
                <a:solidFill>
                  <a:srgbClr val="111111"/>
                </a:solidFill>
                <a:latin typeface="Segoe UI" panose="020B0502040204020203"/>
              </a:defRPr>
            </a:pPr>
            <a:r>
              <a:t>AcademicUniverse</a:t>
            </a:r>
          </a:p>
          <a:p>
            <a:pPr>
              <a:spcAft>
                <a:spcPts val="200"/>
              </a:spcAft>
              <a:defRPr sz="1300" b="1">
                <a:solidFill>
                  <a:srgbClr val="242220"/>
                </a:solidFill>
                <a:latin typeface="Segoe UI" panose="020B0502040204020203"/>
              </a:defRPr>
            </a:pPr>
            <a:r>
              <a:t>An AI Powered Educational Ecosystem for Student Growth and Academic Performance Analysis</a:t>
            </a:r>
          </a:p>
          <a:p>
            <a:pPr>
              <a:defRPr sz="950" b="0">
                <a:solidFill>
                  <a:srgbClr val="635D56"/>
                </a:solidFill>
                <a:latin typeface="Segoe UI" panose="020B0502040204020203"/>
              </a:defRPr>
            </a:pPr>
            <a:r>
              <a:t>Department of Computer Science &amp; Engineering • School of Engineering and Technology • Sharda University</a:t>
            </a:r>
          </a:p>
        </p:txBody>
      </p:sp>
      <p:sp>
        <p:nvSpPr>
          <p:cNvPr id="7" name="Rounded Rectangle 6"/>
          <p:cNvSpPr/>
          <p:nvPr/>
        </p:nvSpPr>
        <p:spPr>
          <a:xfrm>
            <a:off x="825500" y="2095500"/>
            <a:ext cx="3175000" cy="4216400"/>
          </a:xfrm>
          <a:prstGeom prst="roundRect">
            <a:avLst/>
          </a:prstGeom>
          <a:solidFill>
            <a:srgbClr val="FFFFFF"/>
          </a:solidFill>
          <a:ln w="12700">
            <a:solidFill>
              <a:srgbClr val="DFD7CB"/>
            </a:solidFill>
          </a:ln>
        </p:spPr>
        <p:style>
          <a:lnRef idx="1">
            <a:schemeClr val="accent1"/>
          </a:lnRef>
          <a:fillRef idx="3">
            <a:schemeClr val="accent1"/>
          </a:fillRef>
          <a:effectRef idx="2">
            <a:schemeClr val="accent1"/>
          </a:effectRef>
          <a:fontRef idx="minor">
            <a:schemeClr val="lt1"/>
          </a:fontRef>
        </p:style>
        <p:txBody>
          <a:bodyPr wrap="square" lIns="177800" tIns="177800" rIns="177800" bIns="127000" rtlCol="0" anchor="ctr"/>
          <a:lstStyle/>
          <a:p>
            <a:pPr algn="l">
              <a:spcAft>
                <a:spcPts val="200"/>
              </a:spcAft>
              <a:defRPr sz="850" b="1">
                <a:solidFill>
                  <a:srgbClr val="111111"/>
                </a:solidFill>
                <a:latin typeface="Segoe UI" panose="020B0502040204020203"/>
              </a:defRPr>
            </a:pPr>
            <a:r>
              <a:rPr sz="1200"/>
              <a:t>RESOURCE COORDINATOR</a:t>
            </a:r>
            <a:endParaRPr sz="1200"/>
          </a:p>
          <a:p>
            <a:pPr algn="l">
              <a:spcAft>
                <a:spcPts val="400"/>
              </a:spcAft>
              <a:defRPr sz="1200" b="1">
                <a:solidFill>
                  <a:srgbClr val="111111"/>
                </a:solidFill>
                <a:latin typeface="Segoe UI" panose="020B0502040204020203"/>
              </a:defRPr>
            </a:pPr>
            <a:r>
              <a:rPr sz="1200"/>
              <a:t>1. Kushagra Singh Bhadauria</a:t>
            </a:r>
            <a:endParaRPr sz="1200"/>
          </a:p>
          <a:p>
            <a:pPr algn="l">
              <a:spcAft>
                <a:spcPts val="200"/>
              </a:spcAft>
              <a:defRPr sz="850" b="0">
                <a:solidFill>
                  <a:srgbClr val="242220"/>
                </a:solidFill>
                <a:latin typeface="Segoe UI" panose="020B0502040204020203"/>
              </a:defRPr>
            </a:pPr>
            <a:r>
              <a:rPr sz="1200"/>
              <a:t>Sys ID: 2023361009  | </a:t>
            </a:r>
            <a:endParaRPr sz="1200"/>
          </a:p>
          <a:p>
            <a:pPr algn="l">
              <a:spcAft>
                <a:spcPts val="400"/>
              </a:spcAft>
              <a:defRPr sz="800" b="1">
                <a:solidFill>
                  <a:srgbClr val="111111"/>
                </a:solidFill>
                <a:latin typeface="Segoe UI" panose="020B0502040204020203"/>
              </a:defRPr>
            </a:pPr>
            <a:r>
              <a:rPr sz="1200"/>
              <a:t>CORE RESPONSIBILITIES</a:t>
            </a:r>
            <a:endParaRPr sz="1200"/>
          </a:p>
          <a:p>
            <a:pPr algn="l">
              <a:spcAft>
                <a:spcPts val="300"/>
              </a:spcAft>
              <a:defRPr sz="800" b="0">
                <a:solidFill>
                  <a:srgbClr val="242220"/>
                </a:solidFill>
                <a:latin typeface="Segoe UI" panose="020B0502040204020203"/>
              </a:defRPr>
            </a:pPr>
            <a:r>
              <a:rPr sz="1200"/>
              <a:t>•  Resource Gathering &amp; Support Lead</a:t>
            </a:r>
            <a:endParaRPr sz="1200"/>
          </a:p>
          <a:p>
            <a:pPr algn="l">
              <a:spcAft>
                <a:spcPts val="300"/>
              </a:spcAft>
              <a:defRPr sz="800" b="0">
                <a:solidFill>
                  <a:srgbClr val="242220"/>
                </a:solidFill>
                <a:latin typeface="Segoe UI" panose="020B0502040204020203"/>
              </a:defRPr>
            </a:pPr>
            <a:r>
              <a:rPr sz="1200"/>
              <a:t>•  Collecting Datasets, PDFs &amp; Timetables</a:t>
            </a:r>
            <a:endParaRPr sz="1200"/>
          </a:p>
          <a:p>
            <a:pPr algn="l">
              <a:spcAft>
                <a:spcPts val="300"/>
              </a:spcAft>
              <a:defRPr sz="800" b="0">
                <a:solidFill>
                  <a:srgbClr val="242220"/>
                </a:solidFill>
                <a:latin typeface="Segoe UI" panose="020B0502040204020203"/>
              </a:defRPr>
            </a:pPr>
            <a:r>
              <a:rPr sz="1200"/>
              <a:t>•  Gathering Technical References &amp; Docs</a:t>
            </a:r>
            <a:endParaRPr sz="1200"/>
          </a:p>
          <a:p>
            <a:pPr algn="l">
              <a:spcAft>
                <a:spcPts val="300"/>
              </a:spcAft>
              <a:defRPr sz="800" b="0">
                <a:solidFill>
                  <a:srgbClr val="242220"/>
                </a:solidFill>
                <a:latin typeface="Segoe UI" panose="020B0502040204020203"/>
              </a:defRPr>
            </a:pPr>
            <a:r>
              <a:rPr sz="1200"/>
              <a:t>•  Documentation &amp; Integration Support</a:t>
            </a:r>
            <a:endParaRPr sz="1200"/>
          </a:p>
          <a:p>
            <a:pPr algn="l">
              <a:spcAft>
                <a:spcPts val="300"/>
              </a:spcAft>
              <a:defRPr sz="800" b="0">
                <a:solidFill>
                  <a:srgbClr val="242220"/>
                </a:solidFill>
                <a:latin typeface="Segoe UI" panose="020B0502040204020203"/>
              </a:defRPr>
            </a:pPr>
            <a:r>
              <a:rPr sz="1200"/>
              <a:t>•  Operational Backbone for Project Execution</a:t>
            </a:r>
            <a:endParaRPr sz="1200"/>
          </a:p>
        </p:txBody>
      </p:sp>
      <p:sp>
        <p:nvSpPr>
          <p:cNvPr id="8" name="Rounded Rectangle 7"/>
          <p:cNvSpPr/>
          <p:nvPr/>
        </p:nvSpPr>
        <p:spPr>
          <a:xfrm>
            <a:off x="4508500" y="2095500"/>
            <a:ext cx="3175000" cy="4216400"/>
          </a:xfrm>
          <a:prstGeom prst="roundRect">
            <a:avLst/>
          </a:prstGeom>
          <a:solidFill>
            <a:srgbClr val="FFFFFF"/>
          </a:solidFill>
          <a:ln w="12700">
            <a:solidFill>
              <a:srgbClr val="DFD7CB"/>
            </a:solidFill>
          </a:ln>
        </p:spPr>
        <p:style>
          <a:lnRef idx="1">
            <a:schemeClr val="accent1"/>
          </a:lnRef>
          <a:fillRef idx="3">
            <a:schemeClr val="accent1"/>
          </a:fillRef>
          <a:effectRef idx="2">
            <a:schemeClr val="accent1"/>
          </a:effectRef>
          <a:fontRef idx="minor">
            <a:schemeClr val="lt1"/>
          </a:fontRef>
        </p:style>
        <p:txBody>
          <a:bodyPr wrap="square" lIns="177800" tIns="177800" rIns="177800" bIns="127000" rtlCol="0" anchor="ctr"/>
          <a:lstStyle/>
          <a:p>
            <a:pPr algn="l">
              <a:spcAft>
                <a:spcPts val="200"/>
              </a:spcAft>
              <a:defRPr sz="850" b="1">
                <a:solidFill>
                  <a:srgbClr val="111111"/>
                </a:solidFill>
                <a:latin typeface="Segoe UI" panose="020B0502040204020203"/>
              </a:defRPr>
            </a:pPr>
            <a:r>
              <a:rPr sz="1200"/>
              <a:t>SYSTEM ARCHITECT &amp; DEV LEAD</a:t>
            </a:r>
            <a:endParaRPr sz="1200"/>
          </a:p>
          <a:p>
            <a:pPr algn="l">
              <a:spcAft>
                <a:spcPts val="400"/>
              </a:spcAft>
              <a:defRPr sz="1200" b="1">
                <a:solidFill>
                  <a:srgbClr val="111111"/>
                </a:solidFill>
                <a:latin typeface="Segoe UI" panose="020B0502040204020203"/>
              </a:defRPr>
            </a:pPr>
            <a:r>
              <a:rPr sz="1200"/>
              <a:t>2. Aashish Rajput</a:t>
            </a:r>
            <a:endParaRPr sz="1200"/>
          </a:p>
          <a:p>
            <a:pPr algn="l">
              <a:spcAft>
                <a:spcPts val="200"/>
              </a:spcAft>
              <a:defRPr sz="850" b="0">
                <a:solidFill>
                  <a:srgbClr val="242220"/>
                </a:solidFill>
                <a:latin typeface="Segoe UI" panose="020B0502040204020203"/>
              </a:defRPr>
            </a:pPr>
            <a:r>
              <a:rPr sz="1200"/>
              <a:t>Sys ID: 2023329421  |  </a:t>
            </a:r>
            <a:endParaRPr sz="1200"/>
          </a:p>
          <a:p>
            <a:pPr algn="l">
              <a:spcAft>
                <a:spcPts val="200"/>
              </a:spcAft>
              <a:defRPr sz="850" b="0">
                <a:solidFill>
                  <a:srgbClr val="242220"/>
                </a:solidFill>
                <a:latin typeface="Segoe UI" panose="020B0502040204020203"/>
              </a:defRPr>
            </a:pPr>
            <a:r>
              <a:rPr sz="1200" b="1"/>
              <a:t>CORE RESPONSIBILITIES</a:t>
            </a:r>
            <a:endParaRPr sz="1200"/>
          </a:p>
          <a:p>
            <a:pPr algn="l">
              <a:spcAft>
                <a:spcPts val="300"/>
              </a:spcAft>
              <a:defRPr sz="800" b="0">
                <a:solidFill>
                  <a:srgbClr val="242220"/>
                </a:solidFill>
                <a:latin typeface="Segoe UI" panose="020B0502040204020203"/>
              </a:defRPr>
            </a:pPr>
            <a:r>
              <a:rPr sz="1200"/>
              <a:t>•  Next.js 16 App Router &amp; System Architecture</a:t>
            </a:r>
            <a:endParaRPr sz="1200"/>
          </a:p>
          <a:p>
            <a:pPr algn="l">
              <a:spcAft>
                <a:spcPts val="300"/>
              </a:spcAft>
              <a:defRPr sz="800" b="0">
                <a:solidFill>
                  <a:srgbClr val="242220"/>
                </a:solidFill>
                <a:latin typeface="Segoe UI" panose="020B0502040204020203"/>
              </a:defRPr>
            </a:pPr>
            <a:r>
              <a:rPr sz="1200"/>
              <a:t>•  Modular Express Microservices &amp; MongoDB</a:t>
            </a:r>
            <a:endParaRPr sz="1200"/>
          </a:p>
          <a:p>
            <a:pPr algn="l">
              <a:spcAft>
                <a:spcPts val="300"/>
              </a:spcAft>
              <a:defRPr sz="800" b="0">
                <a:solidFill>
                  <a:srgbClr val="242220"/>
                </a:solidFill>
                <a:latin typeface="Segoe UI" panose="020B0502040204020203"/>
              </a:defRPr>
            </a:pPr>
            <a:r>
              <a:rPr sz="1200"/>
              <a:t>•  Playwright E-Zone Timetable Sync Engine</a:t>
            </a:r>
            <a:endParaRPr sz="1200"/>
          </a:p>
          <a:p>
            <a:pPr algn="l">
              <a:spcAft>
                <a:spcPts val="300"/>
              </a:spcAft>
              <a:defRPr sz="800" b="0">
                <a:solidFill>
                  <a:srgbClr val="242220"/>
                </a:solidFill>
                <a:latin typeface="Segoe UI" panose="020B0502040204020203"/>
              </a:defRPr>
            </a:pPr>
            <a:r>
              <a:rPr sz="1200"/>
              <a:t>•  Context-Injected Gemini 2.5 Campus Chatbot</a:t>
            </a:r>
            <a:endParaRPr sz="1200"/>
          </a:p>
          <a:p>
            <a:pPr algn="l">
              <a:spcAft>
                <a:spcPts val="300"/>
              </a:spcAft>
              <a:defRPr sz="800" b="0">
                <a:solidFill>
                  <a:srgbClr val="242220"/>
                </a:solidFill>
                <a:latin typeface="Segoe UI" panose="020B0502040204020203"/>
              </a:defRPr>
            </a:pPr>
            <a:r>
              <a:rPr sz="1200"/>
              <a:t>•  N-Way Overlap Planner &amp; CI/CD Pipeline</a:t>
            </a:r>
            <a:endParaRPr sz="1200"/>
          </a:p>
        </p:txBody>
      </p:sp>
      <p:sp>
        <p:nvSpPr>
          <p:cNvPr id="9" name="Rounded Rectangle 8"/>
          <p:cNvSpPr/>
          <p:nvPr/>
        </p:nvSpPr>
        <p:spPr>
          <a:xfrm>
            <a:off x="8191500" y="2095500"/>
            <a:ext cx="3175000" cy="4216400"/>
          </a:xfrm>
          <a:prstGeom prst="roundRect">
            <a:avLst/>
          </a:prstGeom>
          <a:solidFill>
            <a:srgbClr val="FFFFFF"/>
          </a:solidFill>
          <a:ln w="12700">
            <a:solidFill>
              <a:srgbClr val="DFD7CB"/>
            </a:solidFill>
          </a:ln>
        </p:spPr>
        <p:style>
          <a:lnRef idx="1">
            <a:schemeClr val="accent1"/>
          </a:lnRef>
          <a:fillRef idx="3">
            <a:schemeClr val="accent1"/>
          </a:fillRef>
          <a:effectRef idx="2">
            <a:schemeClr val="accent1"/>
          </a:effectRef>
          <a:fontRef idx="minor">
            <a:schemeClr val="lt1"/>
          </a:fontRef>
        </p:style>
        <p:txBody>
          <a:bodyPr wrap="square" lIns="177800" tIns="177800" rIns="177800" bIns="127000" rtlCol="0" anchor="ctr"/>
          <a:lstStyle/>
          <a:p>
            <a:pPr algn="l">
              <a:spcAft>
                <a:spcPts val="200"/>
              </a:spcAft>
              <a:defRPr sz="850" b="1">
                <a:solidFill>
                  <a:srgbClr val="111111"/>
                </a:solidFill>
                <a:latin typeface="Segoe UI" panose="020B0502040204020203"/>
              </a:defRPr>
            </a:pPr>
            <a:r>
              <a:rPr sz="1200"/>
              <a:t>RESEARCH &amp; ANALYSIS LEAD</a:t>
            </a:r>
            <a:endParaRPr sz="1200"/>
          </a:p>
          <a:p>
            <a:pPr algn="l">
              <a:spcAft>
                <a:spcPts val="400"/>
              </a:spcAft>
              <a:defRPr sz="1200" b="1">
                <a:solidFill>
                  <a:srgbClr val="111111"/>
                </a:solidFill>
                <a:latin typeface="Segoe UI" panose="020B0502040204020203"/>
              </a:defRPr>
            </a:pPr>
            <a:r>
              <a:rPr sz="1200"/>
              <a:t>3. Avdesh Kumar Sah</a:t>
            </a:r>
            <a:endParaRPr sz="1200"/>
          </a:p>
          <a:p>
            <a:pPr algn="l">
              <a:spcAft>
                <a:spcPts val="200"/>
              </a:spcAft>
              <a:defRPr sz="850" b="0">
                <a:solidFill>
                  <a:srgbClr val="242220"/>
                </a:solidFill>
                <a:latin typeface="Segoe UI" panose="020B0502040204020203"/>
              </a:defRPr>
            </a:pPr>
            <a:r>
              <a:rPr sz="1200"/>
              <a:t>Sys ID: 2023265132  </a:t>
            </a:r>
            <a:endParaRPr sz="1200"/>
          </a:p>
          <a:p>
            <a:pPr algn="l">
              <a:spcAft>
                <a:spcPts val="400"/>
              </a:spcAft>
              <a:defRPr sz="800" b="1">
                <a:solidFill>
                  <a:srgbClr val="111111"/>
                </a:solidFill>
                <a:latin typeface="Segoe UI" panose="020B0502040204020203"/>
              </a:defRPr>
            </a:pPr>
            <a:r>
              <a:rPr sz="1200"/>
              <a:t>CORE RESPONSIBILITIES</a:t>
            </a:r>
            <a:endParaRPr sz="1200"/>
          </a:p>
          <a:p>
            <a:pPr algn="l">
              <a:spcAft>
                <a:spcPts val="300"/>
              </a:spcAft>
              <a:defRPr sz="800" b="0">
                <a:solidFill>
                  <a:srgbClr val="242220"/>
                </a:solidFill>
                <a:latin typeface="Segoe UI" panose="020B0502040204020203"/>
              </a:defRPr>
            </a:pPr>
            <a:r>
              <a:rPr sz="1200"/>
              <a:t>•  Student Growth &amp; Academic Performance Analysis</a:t>
            </a:r>
            <a:endParaRPr sz="1200"/>
          </a:p>
          <a:p>
            <a:pPr algn="l">
              <a:spcAft>
                <a:spcPts val="300"/>
              </a:spcAft>
              <a:defRPr sz="800" b="0">
                <a:solidFill>
                  <a:srgbClr val="242220"/>
                </a:solidFill>
                <a:latin typeface="Segoe UI" panose="020B0502040204020203"/>
              </a:defRPr>
            </a:pPr>
            <a:r>
              <a:rPr sz="1200"/>
              <a:t>•  Empirical Benchmark &amp; Evaluation Design</a:t>
            </a:r>
            <a:endParaRPr sz="1200"/>
          </a:p>
          <a:p>
            <a:pPr algn="l">
              <a:spcAft>
                <a:spcPts val="300"/>
              </a:spcAft>
              <a:defRPr sz="800" b="0">
                <a:solidFill>
                  <a:srgbClr val="242220"/>
                </a:solidFill>
                <a:latin typeface="Segoe UI" panose="020B0502040204020203"/>
              </a:defRPr>
            </a:pPr>
            <a:r>
              <a:rPr sz="1200"/>
              <a:t>•  Academic Research Literature Review</a:t>
            </a:r>
            <a:endParaRPr sz="1200"/>
          </a:p>
          <a:p>
            <a:pPr algn="l">
              <a:spcAft>
                <a:spcPts val="300"/>
              </a:spcAft>
              <a:defRPr sz="800" b="0">
                <a:solidFill>
                  <a:srgbClr val="242220"/>
                </a:solidFill>
                <a:latin typeface="Segoe UI" panose="020B0502040204020203"/>
              </a:defRPr>
            </a:pPr>
            <a:r>
              <a:rPr sz="1200"/>
              <a:t>•  Tamper-Evident Record &amp; Storage Testing</a:t>
            </a:r>
            <a:endParaRPr sz="1200"/>
          </a:p>
          <a:p>
            <a:pPr algn="l">
              <a:spcAft>
                <a:spcPts val="300"/>
              </a:spcAft>
              <a:defRPr sz="800" b="0">
                <a:solidFill>
                  <a:srgbClr val="242220"/>
                </a:solidFill>
                <a:latin typeface="Segoe UI" panose="020B0502040204020203"/>
              </a:defRPr>
            </a:pPr>
            <a:r>
              <a:rPr sz="1200"/>
              <a:t>•  Analytical Validation &amp; Project Audits</a:t>
            </a:r>
            <a:endParaRPr sz="1200"/>
          </a:p>
        </p:txBody>
      </p:sp>
      <p:sp>
        <p:nvSpPr>
          <p:cNvPr id="10" name="GuideBadge"/>
          <p:cNvSpPr/>
          <p:nvPr/>
        </p:nvSpPr>
        <p:spPr>
          <a:xfrm>
            <a:off x="3683000" y="533400"/>
            <a:ext cx="4445000" cy="304800"/>
          </a:xfrm>
          <a:prstGeom prst="roundRect">
            <a:avLst/>
          </a:prstGeom>
          <a:solidFill>
            <a:srgbClr val="FFFFFF"/>
          </a:solidFill>
          <a:ln w="12700">
            <a:solidFill>
              <a:srgbClr val="DFD7CB"/>
            </a:solidFill>
          </a:ln>
        </p:spPr>
        <p:style>
          <a:lnRef idx="1">
            <a:schemeClr val="accent1"/>
          </a:lnRef>
          <a:fillRef idx="3">
            <a:schemeClr val="accent1"/>
          </a:fillRef>
          <a:effectRef idx="2">
            <a:schemeClr val="accent1"/>
          </a:effectRef>
          <a:fontRef idx="minor">
            <a:schemeClr val="lt1"/>
          </a:fontRef>
        </p:style>
        <p:txBody>
          <a:bodyPr wrap="none" lIns="101600" tIns="25400" rIns="101600" bIns="25400" rtlCol="0" anchor="ctr"/>
          <a:lstStyle/>
          <a:p>
            <a:pPr algn="ctr">
              <a:defRPr sz="950" b="1">
                <a:solidFill>
                  <a:srgbClr val="111111"/>
                </a:solidFill>
                <a:latin typeface="Segoe UI" panose="020B0502040204020203"/>
              </a:defRPr>
            </a:pPr>
            <a:r>
              <a:t>GUIDE: Ms. Kamini   |   CO-GUIDE: Ms. Mekhala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tIns="0" rIns="0" bIns="0">
            <a:spAutoFit/>
          </a:bodyPr>
          <a:lstStyle/>
          <a:p>
            <a:pPr>
              <a:defRPr sz="1000" b="1">
                <a:solidFill>
                  <a:srgbClr val="111111"/>
                </a:solidFill>
              </a:defRPr>
            </a:pPr>
            <a:r>
              <a:t>BACKGROUND &amp; ARCHITECTURAL NEED</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111111"/>
                </a:solidFill>
              </a:defRPr>
            </a:pPr>
            <a:r>
              <a:t>Problem Statement &amp; Project Motivation</a:t>
            </a:r>
          </a:p>
        </p:txBody>
      </p:sp>
      <p:sp>
        <p:nvSpPr>
          <p:cNvPr id="5" name="Rectangle 4"/>
          <p:cNvSpPr/>
          <p:nvPr/>
        </p:nvSpPr>
        <p:spPr>
          <a:xfrm>
            <a:off x="731520" y="6400800"/>
            <a:ext cx="10728655" cy="18288"/>
          </a:xfrm>
          <a:prstGeom prst="rect">
            <a:avLst/>
          </a:prstGeom>
          <a:solidFill>
            <a:srgbClr val="E5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35D56"/>
                </a:solidFill>
                <a:latin typeface="Segoe UI" panose="020B0502040204020203"/>
              </a:defRPr>
            </a:pPr>
            <a:r>
              <a:t>AcademicUniverse | Guide: Ms. Kamini, Co-Guide: Ms. Mekhala | Team: Kushagra, Aashish, Avdesh</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11111"/>
                </a:solidFill>
              </a:defRPr>
            </a:pPr>
            <a:r>
              <a:t>2 / 10</a:t>
            </a:r>
          </a:p>
        </p:txBody>
      </p:sp>
      <p:sp>
        <p:nvSpPr>
          <p:cNvPr id="8" name="Rounded Rectangle 7"/>
          <p:cNvSpPr/>
          <p:nvPr/>
        </p:nvSpPr>
        <p:spPr>
          <a:xfrm>
            <a:off x="731520" y="1554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1537970"/>
          </a:xfrm>
          <a:prstGeom prst="rect">
            <a:avLst/>
          </a:prstGeom>
          <a:noFill/>
        </p:spPr>
        <p:txBody>
          <a:bodyPr wrap="square">
            <a:spAutoFit/>
          </a:bodyPr>
          <a:lstStyle/>
          <a:p>
            <a:pPr>
              <a:spcAft>
                <a:spcPts val="600"/>
              </a:spcAft>
              <a:defRPr sz="1400" b="1">
                <a:solidFill>
                  <a:srgbClr val="111111"/>
                </a:solidFill>
              </a:defRPr>
            </a:pPr>
            <a:r>
              <a:t>1. Severe Academic Fragmentation</a:t>
            </a:r>
          </a:p>
          <a:p>
            <a:pPr>
              <a:defRPr sz="1150">
                <a:solidFill>
                  <a:srgbClr val="242220"/>
                </a:solidFill>
              </a:defRPr>
            </a:pPr>
            <a:r>
              <a:rPr sz="1500"/>
              <a:t>Traditional university workflows force students and professors to navigate 5+ disjointed web applications for attendance, class timetables, marks, circulars, and certificates. Critical data is isolated in siloed portals with zero cross-talk.</a:t>
            </a:r>
            <a:endParaRPr sz="1500"/>
          </a:p>
        </p:txBody>
      </p:sp>
      <p:sp>
        <p:nvSpPr>
          <p:cNvPr id="10" name="Rounded Rectangle 9"/>
          <p:cNvSpPr/>
          <p:nvPr/>
        </p:nvSpPr>
        <p:spPr>
          <a:xfrm>
            <a:off x="6172200" y="1554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00600" cy="1537970"/>
          </a:xfrm>
          <a:prstGeom prst="rect">
            <a:avLst/>
          </a:prstGeom>
          <a:noFill/>
        </p:spPr>
        <p:txBody>
          <a:bodyPr wrap="square">
            <a:spAutoFit/>
          </a:bodyPr>
          <a:lstStyle/>
          <a:p>
            <a:pPr>
              <a:spcAft>
                <a:spcPts val="600"/>
              </a:spcAft>
              <a:defRPr sz="1400" b="1">
                <a:solidFill>
                  <a:srgbClr val="111111"/>
                </a:solidFill>
              </a:defRPr>
            </a:pPr>
            <a:r>
              <a:t>2. Coordination &amp; Free-Time Bottlenecks</a:t>
            </a:r>
          </a:p>
          <a:p>
            <a:pPr>
              <a:defRPr sz="1150">
                <a:solidFill>
                  <a:srgbClr val="242220"/>
                </a:solidFill>
              </a:defRPr>
            </a:pPr>
            <a:r>
              <a:rPr sz="1500"/>
              <a:t>University schedules run on 9 distinct 50-minute periods daily with rotating lab and elective batches. Organizing peer study groups, project sprint meets, and hackathons requires manual back-and-forth comparison, leading to constant scheduling friction.</a:t>
            </a:r>
            <a:endParaRPr sz="1500"/>
          </a:p>
        </p:txBody>
      </p:sp>
      <p:sp>
        <p:nvSpPr>
          <p:cNvPr id="12" name="Rounded Rectangle 11"/>
          <p:cNvSpPr/>
          <p:nvPr/>
        </p:nvSpPr>
        <p:spPr>
          <a:xfrm>
            <a:off x="731520" y="3840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023360"/>
            <a:ext cx="4800600" cy="1537970"/>
          </a:xfrm>
          <a:prstGeom prst="rect">
            <a:avLst/>
          </a:prstGeom>
          <a:noFill/>
        </p:spPr>
        <p:txBody>
          <a:bodyPr wrap="square">
            <a:spAutoFit/>
          </a:bodyPr>
          <a:lstStyle/>
          <a:p>
            <a:pPr>
              <a:spcAft>
                <a:spcPts val="600"/>
              </a:spcAft>
              <a:defRPr sz="1400" b="1">
                <a:solidFill>
                  <a:srgbClr val="111111"/>
                </a:solidFill>
              </a:defRPr>
            </a:pPr>
            <a:r>
              <a:t>3. Unverified Digital Credentialing</a:t>
            </a:r>
          </a:p>
          <a:p>
            <a:pPr>
              <a:defRPr sz="1150">
                <a:solidFill>
                  <a:srgbClr val="242220"/>
                </a:solidFill>
              </a:defRPr>
            </a:pPr>
            <a:r>
              <a:rPr sz="1500"/>
              <a:t>Students lack a centralized, verifiable academic repository. Achievement certificates, semester grade sheets, and competition credentials get scattered in personal storage with no tamper-evident provenance or structured institutional verification.</a:t>
            </a:r>
            <a:endParaRPr sz="1500"/>
          </a:p>
        </p:txBody>
      </p:sp>
      <p:sp>
        <p:nvSpPr>
          <p:cNvPr id="14" name="Rounded Rectangle 13"/>
          <p:cNvSpPr/>
          <p:nvPr/>
        </p:nvSpPr>
        <p:spPr>
          <a:xfrm>
            <a:off x="6172200" y="3840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23360"/>
            <a:ext cx="4800600" cy="1306830"/>
          </a:xfrm>
          <a:prstGeom prst="rect">
            <a:avLst/>
          </a:prstGeom>
          <a:noFill/>
        </p:spPr>
        <p:txBody>
          <a:bodyPr wrap="square">
            <a:spAutoFit/>
          </a:bodyPr>
          <a:lstStyle/>
          <a:p>
            <a:pPr>
              <a:spcAft>
                <a:spcPts val="600"/>
              </a:spcAft>
              <a:defRPr sz="1400" b="1">
                <a:solidFill>
                  <a:srgbClr val="111111"/>
                </a:solidFill>
              </a:defRPr>
            </a:pPr>
            <a:r>
              <a:t>4. Context-Blind Campus AI Chatbots</a:t>
            </a:r>
          </a:p>
          <a:p>
            <a:pPr>
              <a:defRPr sz="1150">
                <a:solidFill>
                  <a:srgbClr val="242220"/>
                </a:solidFill>
              </a:defRPr>
            </a:pPr>
            <a:r>
              <a:rPr sz="1500"/>
              <a:t>Standard generative AI models know nothing about university reality. They cannot tell students where their next lecture is located, who is teaching, or which classroom block they must report to for practical simulations.</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tIns="0" rIns="0" bIns="0">
            <a:spAutoFit/>
          </a:bodyPr>
          <a:lstStyle/>
          <a:p>
            <a:pPr>
              <a:defRPr sz="1000" b="1">
                <a:solidFill>
                  <a:srgbClr val="111111"/>
                </a:solidFill>
              </a:defRPr>
            </a:pPr>
            <a:r>
              <a:t>SYSTEM DESIGN &amp; DATA PIPELINES</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111111"/>
                </a:solidFill>
              </a:defRPr>
            </a:pPr>
            <a:r>
              <a:t>Full-Stack System Architecture &amp; Production Stack</a:t>
            </a:r>
          </a:p>
        </p:txBody>
      </p:sp>
      <p:sp>
        <p:nvSpPr>
          <p:cNvPr id="5" name="Rectangle 4"/>
          <p:cNvSpPr/>
          <p:nvPr/>
        </p:nvSpPr>
        <p:spPr>
          <a:xfrm>
            <a:off x="731520" y="6400800"/>
            <a:ext cx="10728655" cy="18288"/>
          </a:xfrm>
          <a:prstGeom prst="rect">
            <a:avLst/>
          </a:prstGeom>
          <a:solidFill>
            <a:srgbClr val="E5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35D56"/>
                </a:solidFill>
                <a:latin typeface="Segoe UI" panose="020B0502040204020203"/>
              </a:defRPr>
            </a:pPr>
            <a:r>
              <a:t>AcademicUniverse | Guide: Ms. Kamini, Co-Guide: Ms. Mekhala | Team: Kushagra, Aashish, Avdesh</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11111"/>
                </a:solidFill>
              </a:defRPr>
            </a:pPr>
            <a:r>
              <a:t>3 / 10</a:t>
            </a:r>
          </a:p>
        </p:txBody>
      </p:sp>
      <p:sp>
        <p:nvSpPr>
          <p:cNvPr id="8" name="Rounded Rectangle 7"/>
          <p:cNvSpPr/>
          <p:nvPr/>
        </p:nvSpPr>
        <p:spPr>
          <a:xfrm>
            <a:off x="731520" y="1554480"/>
            <a:ext cx="3474720" cy="457200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3108960" cy="3856355"/>
          </a:xfrm>
          <a:prstGeom prst="rect">
            <a:avLst/>
          </a:prstGeom>
          <a:noFill/>
        </p:spPr>
        <p:txBody>
          <a:bodyPr wrap="square">
            <a:spAutoFit/>
          </a:bodyPr>
          <a:lstStyle/>
          <a:p>
            <a:pPr>
              <a:spcAft>
                <a:spcPts val="1200"/>
              </a:spcAft>
              <a:defRPr sz="1300" b="1">
                <a:solidFill>
                  <a:srgbClr val="111111"/>
                </a:solidFill>
              </a:defRPr>
            </a:pPr>
            <a:r>
              <a:t>FRONTEND TIER (Client)</a:t>
            </a:r>
          </a:p>
          <a:p>
            <a:pPr>
              <a:spcAft>
                <a:spcPts val="800"/>
              </a:spcAft>
              <a:defRPr sz="1050">
                <a:solidFill>
                  <a:srgbClr val="242220"/>
                </a:solidFill>
              </a:defRPr>
            </a:pPr>
            <a:r>
              <a:rPr sz="1500"/>
              <a:t>• Next.js 16 App Router + Turbopack engine for sub-second page transitions</a:t>
            </a:r>
            <a:endParaRPr sz="1500"/>
          </a:p>
          <a:p>
            <a:pPr>
              <a:spcAft>
                <a:spcPts val="800"/>
              </a:spcAft>
              <a:defRPr sz="1050">
                <a:solidFill>
                  <a:srgbClr val="242220"/>
                </a:solidFill>
              </a:defRPr>
            </a:pPr>
            <a:r>
              <a:rPr sz="1500"/>
              <a:t>• Tailwind CSS + Radix UI + Lucide Icons for state-of-the-art dark aesthetics</a:t>
            </a:r>
            <a:endParaRPr sz="1500"/>
          </a:p>
          <a:p>
            <a:pPr>
              <a:spcAft>
                <a:spcPts val="800"/>
              </a:spcAft>
              <a:defRPr sz="1050">
                <a:solidFill>
                  <a:srgbClr val="242220"/>
                </a:solidFill>
              </a:defRPr>
            </a:pPr>
            <a:r>
              <a:rPr sz="1500"/>
              <a:t>• Dual-Layer Navigation: Top Primary Navbar + Clean Left Dashboard Menu</a:t>
            </a:r>
            <a:endParaRPr sz="1500"/>
          </a:p>
          <a:p>
            <a:pPr>
              <a:spcAft>
                <a:spcPts val="800"/>
              </a:spcAft>
              <a:defRPr sz="1050">
                <a:solidFill>
                  <a:srgbClr val="242220"/>
                </a:solidFill>
              </a:defRPr>
            </a:pPr>
            <a:r>
              <a:rPr sz="1500"/>
              <a:t>• React Query / Context for stateful synchronization of profiles &amp; schedules</a:t>
            </a:r>
            <a:endParaRPr sz="1500"/>
          </a:p>
          <a:p>
            <a:pPr>
              <a:spcAft>
                <a:spcPts val="800"/>
              </a:spcAft>
              <a:defRPr sz="1050">
                <a:solidFill>
                  <a:srgbClr val="242220"/>
                </a:solidFill>
              </a:defRPr>
            </a:pPr>
            <a:r>
              <a:rPr sz="1500"/>
              <a:t>• Hosted on Vercel Edge with zero-downtime automated CI/CD pipeline</a:t>
            </a:r>
            <a:endParaRPr sz="1500"/>
          </a:p>
        </p:txBody>
      </p:sp>
      <p:sp>
        <p:nvSpPr>
          <p:cNvPr id="10" name="Rounded Rectangle 9"/>
          <p:cNvSpPr/>
          <p:nvPr/>
        </p:nvSpPr>
        <p:spPr>
          <a:xfrm>
            <a:off x="4343400" y="1554480"/>
            <a:ext cx="3474720" cy="457200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737360"/>
            <a:ext cx="3108960" cy="3625850"/>
          </a:xfrm>
          <a:prstGeom prst="rect">
            <a:avLst/>
          </a:prstGeom>
          <a:noFill/>
        </p:spPr>
        <p:txBody>
          <a:bodyPr wrap="square">
            <a:spAutoFit/>
          </a:bodyPr>
          <a:lstStyle/>
          <a:p>
            <a:pPr>
              <a:spcAft>
                <a:spcPts val="1200"/>
              </a:spcAft>
              <a:defRPr sz="1300" b="1">
                <a:solidFill>
                  <a:srgbClr val="111111"/>
                </a:solidFill>
              </a:defRPr>
            </a:pPr>
            <a:r>
              <a:t>BACKEND TIER (Microservices)</a:t>
            </a:r>
          </a:p>
          <a:p>
            <a:pPr>
              <a:spcAft>
                <a:spcPts val="800"/>
              </a:spcAft>
              <a:defRPr sz="1050">
                <a:solidFill>
                  <a:srgbClr val="242220"/>
                </a:solidFill>
              </a:defRPr>
            </a:pPr>
            <a:r>
              <a:t>• </a:t>
            </a:r>
            <a:r>
              <a:rPr sz="1500"/>
              <a:t>Modular Express.js API framework fully written in strict TypeScript</a:t>
            </a:r>
            <a:endParaRPr sz="1500"/>
          </a:p>
          <a:p>
            <a:pPr>
              <a:spcAft>
                <a:spcPts val="800"/>
              </a:spcAft>
              <a:defRPr sz="1050">
                <a:solidFill>
                  <a:srgbClr val="242220"/>
                </a:solidFill>
              </a:defRPr>
            </a:pPr>
            <a:r>
              <a:rPr sz="1500"/>
              <a:t>• Playwright Headless Automation Worker for university E-Zone synchronization</a:t>
            </a:r>
            <a:endParaRPr sz="1500"/>
          </a:p>
          <a:p>
            <a:pPr>
              <a:spcAft>
                <a:spcPts val="800"/>
              </a:spcAft>
              <a:defRPr sz="1050">
                <a:solidFill>
                  <a:srgbClr val="242220"/>
                </a:solidFill>
              </a:defRPr>
            </a:pPr>
            <a:r>
              <a:rPr sz="1500"/>
              <a:t>• Firebase Auth Token Middleware + Role-Based Access Control (RBAC)</a:t>
            </a:r>
            <a:endParaRPr sz="1500"/>
          </a:p>
          <a:p>
            <a:pPr>
              <a:spcAft>
                <a:spcPts val="800"/>
              </a:spcAft>
              <a:defRPr sz="1050">
                <a:solidFill>
                  <a:srgbClr val="242220"/>
                </a:solidFill>
              </a:defRPr>
            </a:pPr>
            <a:r>
              <a:rPr sz="1500"/>
              <a:t>• Dual Error Shielding: Resilient API proxies with Sentry telemetry &amp; fallback</a:t>
            </a:r>
            <a:endParaRPr sz="1500"/>
          </a:p>
          <a:p>
            <a:pPr>
              <a:spcAft>
                <a:spcPts val="800"/>
              </a:spcAft>
              <a:defRPr sz="1050">
                <a:solidFill>
                  <a:srgbClr val="242220"/>
                </a:solidFill>
              </a:defRPr>
            </a:pPr>
            <a:r>
              <a:rPr sz="1500"/>
              <a:t>• Hosted on Railway Container PaaS with automatic scaling</a:t>
            </a:r>
            <a:endParaRPr sz="1500"/>
          </a:p>
        </p:txBody>
      </p:sp>
      <p:sp>
        <p:nvSpPr>
          <p:cNvPr id="12" name="Rounded Rectangle 11"/>
          <p:cNvSpPr/>
          <p:nvPr/>
        </p:nvSpPr>
        <p:spPr>
          <a:xfrm>
            <a:off x="7955280" y="1554480"/>
            <a:ext cx="3474720" cy="457200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737360"/>
            <a:ext cx="3108960" cy="4318000"/>
          </a:xfrm>
          <a:prstGeom prst="rect">
            <a:avLst/>
          </a:prstGeom>
          <a:noFill/>
        </p:spPr>
        <p:txBody>
          <a:bodyPr wrap="square">
            <a:spAutoFit/>
          </a:bodyPr>
          <a:lstStyle/>
          <a:p>
            <a:pPr>
              <a:spcAft>
                <a:spcPts val="1200"/>
              </a:spcAft>
              <a:defRPr sz="1300" b="1">
                <a:solidFill>
                  <a:srgbClr val="111111"/>
                </a:solidFill>
              </a:defRPr>
            </a:pPr>
            <a:r>
              <a:t>DATA &amp; INTELLIGENCE TIER</a:t>
            </a:r>
          </a:p>
          <a:p>
            <a:pPr>
              <a:spcAft>
                <a:spcPts val="800"/>
              </a:spcAft>
              <a:defRPr sz="1050">
                <a:solidFill>
                  <a:srgbClr val="242220"/>
                </a:solidFill>
              </a:defRPr>
            </a:pPr>
            <a:r>
              <a:t>•</a:t>
            </a:r>
            <a:r>
              <a:rPr sz="1500"/>
              <a:t> MongoDB Atlas: Relational-modeled schema for users, profiles &amp; timetables</a:t>
            </a:r>
            <a:endParaRPr sz="1500"/>
          </a:p>
          <a:p>
            <a:pPr>
              <a:spcAft>
                <a:spcPts val="800"/>
              </a:spcAft>
              <a:defRPr sz="1050">
                <a:solidFill>
                  <a:srgbClr val="242220"/>
                </a:solidFill>
              </a:defRPr>
            </a:pPr>
            <a:r>
              <a:rPr sz="1500"/>
              <a:t>• GridFS File Storage: Chunked binary document storage for verifiable certificates</a:t>
            </a:r>
            <a:endParaRPr sz="1500"/>
          </a:p>
          <a:p>
            <a:pPr>
              <a:spcAft>
                <a:spcPts val="800"/>
              </a:spcAft>
              <a:defRPr sz="1050">
                <a:solidFill>
                  <a:srgbClr val="242220"/>
                </a:solidFill>
              </a:defRPr>
            </a:pPr>
            <a:r>
              <a:rPr sz="1500"/>
              <a:t>• Google Gemini 2.5 Flash: Context-injected LLM for live classroom &amp; schedule Q&amp;A</a:t>
            </a:r>
            <a:endParaRPr sz="1500"/>
          </a:p>
          <a:p>
            <a:pPr>
              <a:spcAft>
                <a:spcPts val="800"/>
              </a:spcAft>
              <a:defRPr sz="1050">
                <a:solidFill>
                  <a:srgbClr val="242220"/>
                </a:solidFill>
              </a:defRPr>
            </a:pPr>
            <a:r>
              <a:rPr sz="1500"/>
              <a:t>• Google Sheets Live Archival: Bi-directional administrative audit synchronization</a:t>
            </a:r>
            <a:endParaRPr sz="1500"/>
          </a:p>
          <a:p>
            <a:pPr>
              <a:spcAft>
                <a:spcPts val="800"/>
              </a:spcAft>
              <a:defRPr sz="1050">
                <a:solidFill>
                  <a:srgbClr val="242220"/>
                </a:solidFill>
              </a:defRPr>
            </a:pPr>
            <a:r>
              <a:rPr sz="1500"/>
              <a:t>• Triple Git Remote Mirroring: Provenance tracking across 3 GitHub accounts</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tIns="0" rIns="0" bIns="0">
            <a:spAutoFit/>
          </a:bodyPr>
          <a:lstStyle/>
          <a:p>
            <a:pPr>
              <a:defRPr sz="1000" b="1">
                <a:solidFill>
                  <a:srgbClr val="111111"/>
                </a:solidFill>
              </a:defRPr>
            </a:pPr>
            <a:r>
              <a:t>CORE CAPABILITY • PORTAL INTEGRATION</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111111"/>
                </a:solidFill>
              </a:defRPr>
            </a:pPr>
            <a:r>
              <a:t>Module 1: Automated E-Zone Profile &amp; Timetable Sync</a:t>
            </a:r>
          </a:p>
        </p:txBody>
      </p:sp>
      <p:sp>
        <p:nvSpPr>
          <p:cNvPr id="5" name="Rectangle 4"/>
          <p:cNvSpPr/>
          <p:nvPr/>
        </p:nvSpPr>
        <p:spPr>
          <a:xfrm>
            <a:off x="731520" y="6400800"/>
            <a:ext cx="10728655" cy="18288"/>
          </a:xfrm>
          <a:prstGeom prst="rect">
            <a:avLst/>
          </a:prstGeom>
          <a:solidFill>
            <a:srgbClr val="E5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35D56"/>
                </a:solidFill>
                <a:latin typeface="Segoe UI" panose="020B0502040204020203"/>
              </a:defRPr>
            </a:pPr>
            <a:r>
              <a:t>AcademicUniverse | Guide: Ms. Kamini, Co-Guide: Ms. Mekhala | Team: Kushagra, Aashish, Avdesh</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11111"/>
                </a:solidFill>
              </a:defRPr>
            </a:pPr>
            <a:r>
              <a:t>4 / 10</a:t>
            </a:r>
          </a:p>
        </p:txBody>
      </p:sp>
      <p:sp>
        <p:nvSpPr>
          <p:cNvPr id="8" name="Rounded Rectangle 7"/>
          <p:cNvSpPr/>
          <p:nvPr/>
        </p:nvSpPr>
        <p:spPr>
          <a:xfrm>
            <a:off x="731520" y="1554480"/>
            <a:ext cx="6217920" cy="457200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5760720" cy="4287520"/>
          </a:xfrm>
          <a:prstGeom prst="rect">
            <a:avLst/>
          </a:prstGeom>
          <a:noFill/>
        </p:spPr>
        <p:txBody>
          <a:bodyPr wrap="square">
            <a:spAutoFit/>
          </a:bodyPr>
          <a:lstStyle/>
          <a:p>
            <a:pPr>
              <a:spcAft>
                <a:spcPts val="1000"/>
              </a:spcAft>
              <a:defRPr sz="1600" b="1">
                <a:solidFill>
                  <a:srgbClr val="111111"/>
                </a:solidFill>
              </a:defRPr>
            </a:pPr>
            <a:r>
              <a:t>Automated University Portal Integration</a:t>
            </a:r>
          </a:p>
          <a:p>
            <a:pPr>
              <a:spcAft>
                <a:spcPts val="700"/>
              </a:spcAft>
              <a:defRPr sz="1050" b="1">
                <a:solidFill>
                  <a:srgbClr val="242220"/>
                </a:solidFill>
              </a:defRPr>
            </a:pPr>
            <a:r>
              <a:rPr sz="1500"/>
              <a:t>✔ Playwright Automation Engine: </a:t>
            </a:r>
            <a:r>
              <a:rPr sz="1500" b="0">
                <a:solidFill>
                  <a:srgbClr val="635D56"/>
                </a:solidFill>
              </a:rPr>
              <a:t>Performs automated browser interactions with the Sharda University E-Zone portal to extract authoritative academic records with zero manual input.</a:t>
            </a:r>
            <a:endParaRPr sz="1500" b="0">
              <a:solidFill>
                <a:srgbClr val="635D56"/>
              </a:solidFill>
            </a:endParaRPr>
          </a:p>
          <a:p>
            <a:pPr>
              <a:spcAft>
                <a:spcPts val="700"/>
              </a:spcAft>
              <a:defRPr sz="1050" b="1">
                <a:solidFill>
                  <a:srgbClr val="242220"/>
                </a:solidFill>
              </a:defRPr>
            </a:pPr>
            <a:r>
              <a:rPr sz="1500"/>
              <a:t>✔ Two-Factor Student Email OTP: </a:t>
            </a:r>
            <a:r>
              <a:rPr sz="1500" b="0">
                <a:solidFill>
                  <a:srgbClr val="635D56"/>
                </a:solidFill>
              </a:rPr>
              <a:t>Secure 2-step verification protocol requiring the student to input their 6-digit verification code received on official '@ug.sharda.ac.in' email.</a:t>
            </a:r>
            <a:endParaRPr sz="1500" b="0">
              <a:solidFill>
                <a:srgbClr val="635D56"/>
              </a:solidFill>
            </a:endParaRPr>
          </a:p>
          <a:p>
            <a:pPr>
              <a:spcAft>
                <a:spcPts val="700"/>
              </a:spcAft>
              <a:defRPr sz="1050" b="1">
                <a:solidFill>
                  <a:srgbClr val="242220"/>
                </a:solidFill>
              </a:defRPr>
            </a:pPr>
            <a:r>
              <a:rPr sz="1500"/>
              <a:t>✔ Real Attendance &amp; Grade Synchronization: </a:t>
            </a:r>
            <a:r>
              <a:rPr sz="1500" b="0">
                <a:solidFill>
                  <a:srgbClr val="635D56"/>
                </a:solidFill>
              </a:rPr>
              <a:t>Captures course-level attendance percentages (e.g. 100%, 67%), lecture counts, semester level, and registered credits.</a:t>
            </a:r>
            <a:endParaRPr sz="1500" b="0">
              <a:solidFill>
                <a:srgbClr val="635D56"/>
              </a:solidFill>
            </a:endParaRPr>
          </a:p>
          <a:p>
            <a:pPr>
              <a:spcAft>
                <a:spcPts val="700"/>
              </a:spcAft>
              <a:defRPr sz="1050" b="1">
                <a:solidFill>
                  <a:srgbClr val="242220"/>
                </a:solidFill>
              </a:defRPr>
            </a:pPr>
            <a:r>
              <a:rPr sz="1500"/>
              <a:t>✔ Full Institutional Timetable Parsing: </a:t>
            </a:r>
            <a:r>
              <a:rPr sz="1500" b="0">
                <a:solidFill>
                  <a:srgbClr val="635D56"/>
                </a:solidFill>
              </a:rPr>
              <a:t>Extracts complete Monday–Saturday schedules with exact time blocks (09:00 to 16:15), subject names, faculty teachers, and room numbers.</a:t>
            </a:r>
            <a:endParaRPr sz="1500" b="0">
              <a:solidFill>
                <a:srgbClr val="635D56"/>
              </a:solidFill>
            </a:endParaRPr>
          </a:p>
          <a:p>
            <a:pPr>
              <a:spcAft>
                <a:spcPts val="700"/>
              </a:spcAft>
              <a:defRPr sz="1050" b="1">
                <a:solidFill>
                  <a:srgbClr val="242220"/>
                </a:solidFill>
              </a:defRPr>
            </a:pPr>
            <a:r>
              <a:rPr sz="1500"/>
              <a:t>✔ Google Sheets + MongoDB Dual Storage: </a:t>
            </a:r>
            <a:r>
              <a:rPr sz="1500" b="0">
                <a:solidFill>
                  <a:srgbClr val="635D56"/>
                </a:solidFill>
              </a:rPr>
              <a:t>Persists clean normalized models into MongoDB Atlas while streaming audit rows to Google Sheets for administrative transparency.</a:t>
            </a:r>
            <a:endParaRPr sz="1500" b="0">
              <a:solidFill>
                <a:srgbClr val="635D56"/>
              </a:solidFill>
            </a:endParaRPr>
          </a:p>
        </p:txBody>
      </p:sp>
      <p:sp>
        <p:nvSpPr>
          <p:cNvPr id="10" name="Rounded Rectangle 9"/>
          <p:cNvSpPr/>
          <p:nvPr/>
        </p:nvSpPr>
        <p:spPr>
          <a:xfrm>
            <a:off x="7132320" y="1554480"/>
            <a:ext cx="4327855" cy="4572000"/>
          </a:xfrm>
          <a:prstGeom prst="roundRect">
            <a:avLst/>
          </a:prstGeom>
          <a:solidFill>
            <a:srgbClr val="141414"/>
          </a:solidFill>
          <a:ln w="1524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0920" y="1737360"/>
            <a:ext cx="3840480" cy="3728085"/>
          </a:xfrm>
          <a:prstGeom prst="rect">
            <a:avLst/>
          </a:prstGeom>
          <a:noFill/>
        </p:spPr>
        <p:txBody>
          <a:bodyPr wrap="square">
            <a:spAutoFit/>
          </a:bodyPr>
          <a:lstStyle/>
          <a:p>
            <a:pPr>
              <a:spcAft>
                <a:spcPts val="1200"/>
              </a:spcAft>
              <a:defRPr sz="1300" b="1">
                <a:solidFill>
                  <a:srgbClr val="F7F3EB"/>
                </a:solidFill>
              </a:defRPr>
            </a:pPr>
            <a:r>
              <a:t>VERIFIED IN LIVE DATABASE</a:t>
            </a:r>
          </a:p>
          <a:p>
            <a:pPr>
              <a:defRPr sz="950" b="1">
                <a:solidFill>
                  <a:srgbClr val="D8CEBD"/>
                </a:solidFill>
              </a:defRPr>
            </a:pPr>
            <a:r>
              <a:rPr sz="1500"/>
              <a:t>STUDENT SYSTEM ID</a:t>
            </a:r>
            <a:endParaRPr sz="1500"/>
          </a:p>
          <a:p>
            <a:pPr>
              <a:spcAft>
                <a:spcPts val="800"/>
              </a:spcAft>
              <a:defRPr sz="1150" b="1">
                <a:solidFill>
                  <a:srgbClr val="FFFFFF"/>
                </a:solidFill>
              </a:defRPr>
            </a:pPr>
            <a:r>
              <a:rPr sz="1500"/>
              <a:t>2023329421 (Aashish Rajput)</a:t>
            </a:r>
            <a:endParaRPr sz="1500"/>
          </a:p>
          <a:p>
            <a:pPr>
              <a:defRPr sz="950" b="1">
                <a:solidFill>
                  <a:srgbClr val="D8CEBD"/>
                </a:solidFill>
              </a:defRPr>
            </a:pPr>
            <a:r>
              <a:rPr sz="1500"/>
              <a:t>LIVE SYNCED TIMETABLE</a:t>
            </a:r>
            <a:endParaRPr sz="1500"/>
          </a:p>
          <a:p>
            <a:pPr>
              <a:spcAft>
                <a:spcPts val="800"/>
              </a:spcAft>
              <a:defRPr sz="1150" b="1">
                <a:solidFill>
                  <a:srgbClr val="FFFFFF"/>
                </a:solidFill>
              </a:defRPr>
            </a:pPr>
            <a:r>
              <a:rPr sz="1500"/>
              <a:t>12 Active Weekly Class Slots</a:t>
            </a:r>
            <a:endParaRPr sz="1500"/>
          </a:p>
          <a:p>
            <a:pPr>
              <a:defRPr sz="950" b="1">
                <a:solidFill>
                  <a:srgbClr val="D8CEBD"/>
                </a:solidFill>
              </a:defRPr>
            </a:pPr>
            <a:r>
              <a:rPr sz="1500"/>
              <a:t>CLASSROOM ALLOCATIONS</a:t>
            </a:r>
            <a:endParaRPr sz="1500"/>
          </a:p>
          <a:p>
            <a:pPr>
              <a:spcAft>
                <a:spcPts val="800"/>
              </a:spcAft>
              <a:defRPr sz="1150" b="1">
                <a:solidFill>
                  <a:srgbClr val="FFFFFF"/>
                </a:solidFill>
              </a:defRPr>
            </a:pPr>
            <a:r>
              <a:rPr sz="1500"/>
              <a:t>Room 206 Block 3, Room 008 Block 3</a:t>
            </a:r>
            <a:endParaRPr sz="1500"/>
          </a:p>
          <a:p>
            <a:pPr>
              <a:defRPr sz="950" b="1">
                <a:solidFill>
                  <a:srgbClr val="D8CEBD"/>
                </a:solidFill>
              </a:defRPr>
            </a:pPr>
            <a:r>
              <a:rPr sz="1500"/>
              <a:t>FACULTY INTEGRATED</a:t>
            </a:r>
            <a:endParaRPr sz="1500"/>
          </a:p>
          <a:p>
            <a:pPr>
              <a:spcAft>
                <a:spcPts val="800"/>
              </a:spcAft>
              <a:defRPr sz="1150" b="1">
                <a:solidFill>
                  <a:srgbClr val="FFFFFF"/>
                </a:solidFill>
              </a:defRPr>
            </a:pPr>
            <a:r>
              <a:rPr sz="1500"/>
              <a:t>Dr. Batri K, Ms. Akanksha Srivastav</a:t>
            </a:r>
            <a:endParaRPr sz="1500"/>
          </a:p>
          <a:p>
            <a:pPr>
              <a:defRPr sz="950" b="1">
                <a:solidFill>
                  <a:srgbClr val="D8CEBD"/>
                </a:solidFill>
              </a:defRPr>
            </a:pPr>
            <a:r>
              <a:rPr sz="1500"/>
              <a:t>SYNC PROTOCOL STATUS</a:t>
            </a:r>
            <a:endParaRPr sz="1500"/>
          </a:p>
          <a:p>
            <a:pPr>
              <a:spcAft>
                <a:spcPts val="800"/>
              </a:spcAft>
              <a:defRPr sz="1150" b="1">
                <a:solidFill>
                  <a:srgbClr val="FFFFFF"/>
                </a:solidFill>
              </a:defRPr>
            </a:pPr>
            <a:r>
              <a:rPr sz="1500"/>
              <a:t>OTP Verified &amp; DB Active</a:t>
            </a:r>
            <a:endParaRPr sz="1500"/>
          </a:p>
          <a:p>
            <a:pPr>
              <a:defRPr sz="950" b="1">
                <a:solidFill>
                  <a:srgbClr val="D8CEBD"/>
                </a:solidFill>
              </a:defRPr>
            </a:pPr>
            <a:r>
              <a:rPr sz="1500"/>
              <a:t>GOOGLE SHEETS STREAM</a:t>
            </a:r>
            <a:endParaRPr sz="1500"/>
          </a:p>
          <a:p>
            <a:pPr>
              <a:spcAft>
                <a:spcPts val="800"/>
              </a:spcAft>
              <a:defRPr sz="1150" b="1">
                <a:solidFill>
                  <a:srgbClr val="FFFFFF"/>
                </a:solidFill>
              </a:defRPr>
            </a:pPr>
            <a:r>
              <a:rPr sz="1500"/>
              <a:t>Automated Append Enabled</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tIns="0" rIns="0" bIns="0">
            <a:spAutoFit/>
          </a:bodyPr>
          <a:lstStyle/>
          <a:p>
            <a:pPr>
              <a:defRPr sz="1000" b="1">
                <a:solidFill>
                  <a:srgbClr val="111111"/>
                </a:solidFill>
              </a:defRPr>
            </a:pPr>
            <a:r>
              <a:t>CONTEXT-AWARE ARTIFICIAL INTELLIGENCE</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111111"/>
                </a:solidFill>
              </a:defRPr>
            </a:pPr>
            <a:r>
              <a:t>Module 2: Live AI Campus Chatbot with Classroom Intelligence</a:t>
            </a:r>
          </a:p>
        </p:txBody>
      </p:sp>
      <p:sp>
        <p:nvSpPr>
          <p:cNvPr id="5" name="Rectangle 4"/>
          <p:cNvSpPr/>
          <p:nvPr/>
        </p:nvSpPr>
        <p:spPr>
          <a:xfrm>
            <a:off x="731520" y="6400800"/>
            <a:ext cx="10728655" cy="18288"/>
          </a:xfrm>
          <a:prstGeom prst="rect">
            <a:avLst/>
          </a:prstGeom>
          <a:solidFill>
            <a:srgbClr val="E5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35D56"/>
                </a:solidFill>
                <a:latin typeface="Segoe UI" panose="020B0502040204020203"/>
              </a:defRPr>
            </a:pPr>
            <a:r>
              <a:t>AcademicUniverse | Guide: Ms. Kamini, Co-Guide: Ms. Mekhala | Team: Kushagra, Aashish, Avdesh</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11111"/>
                </a:solidFill>
              </a:defRPr>
            </a:pPr>
            <a:r>
              <a:t>5 / 10</a:t>
            </a:r>
          </a:p>
        </p:txBody>
      </p:sp>
      <p:sp>
        <p:nvSpPr>
          <p:cNvPr id="8" name="Rounded Rectangle 7"/>
          <p:cNvSpPr/>
          <p:nvPr/>
        </p:nvSpPr>
        <p:spPr>
          <a:xfrm>
            <a:off x="731520" y="1554480"/>
            <a:ext cx="5257800" cy="457200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4287520"/>
          </a:xfrm>
          <a:prstGeom prst="rect">
            <a:avLst/>
          </a:prstGeom>
          <a:noFill/>
        </p:spPr>
        <p:txBody>
          <a:bodyPr wrap="square">
            <a:spAutoFit/>
          </a:bodyPr>
          <a:lstStyle/>
          <a:p>
            <a:pPr>
              <a:spcAft>
                <a:spcPts val="1000"/>
              </a:spcAft>
              <a:defRPr sz="1600" b="1">
                <a:solidFill>
                  <a:srgbClr val="111111"/>
                </a:solidFill>
              </a:defRPr>
            </a:pPr>
            <a:r>
              <a:t>Real Classroom Context Injection</a:t>
            </a:r>
          </a:p>
          <a:p>
            <a:pPr>
              <a:spcAft>
                <a:spcPts val="700"/>
              </a:spcAft>
              <a:defRPr sz="1050" b="1">
                <a:solidFill>
                  <a:srgbClr val="242220"/>
                </a:solidFill>
              </a:defRPr>
            </a:pPr>
            <a:r>
              <a:rPr sz="1500"/>
              <a:t>★ Dynamic Schedule Querying: </a:t>
            </a:r>
            <a:r>
              <a:rPr sz="1500" b="0">
                <a:solidFill>
                  <a:srgbClr val="635D56"/>
                </a:solidFill>
              </a:rPr>
              <a:t>Before querying Google Gemini, the backend queries MongoDB 'AcademicSchedule' for the student's authenticated user ID.</a:t>
            </a:r>
            <a:endParaRPr sz="1500" b="0">
              <a:solidFill>
                <a:srgbClr val="635D56"/>
              </a:solidFill>
            </a:endParaRPr>
          </a:p>
          <a:p>
            <a:pPr>
              <a:spcAft>
                <a:spcPts val="700"/>
              </a:spcAft>
              <a:defRPr sz="1050" b="1">
                <a:solidFill>
                  <a:srgbClr val="242220"/>
                </a:solidFill>
              </a:defRPr>
            </a:pPr>
            <a:r>
              <a:rPr sz="1500"/>
              <a:t>★ Exact Room &amp; Teacher Resolution: </a:t>
            </a:r>
            <a:r>
              <a:rPr sz="1500" b="0">
                <a:solidFill>
                  <a:srgbClr val="635D56"/>
                </a:solidFill>
              </a:rPr>
              <a:t>Injects live classroom blocks: Room 206 Block 3 (Research Methodology with Dr. Batri K) and Room 008 Block 3 (Algorithm Lab).</a:t>
            </a:r>
            <a:endParaRPr sz="1500" b="0">
              <a:solidFill>
                <a:srgbClr val="635D56"/>
              </a:solidFill>
            </a:endParaRPr>
          </a:p>
          <a:p>
            <a:pPr>
              <a:spcAft>
                <a:spcPts val="700"/>
              </a:spcAft>
              <a:defRPr sz="1050" b="1">
                <a:solidFill>
                  <a:srgbClr val="242220"/>
                </a:solidFill>
              </a:defRPr>
            </a:pPr>
            <a:r>
              <a:rPr sz="1500"/>
              <a:t>★ Zero Generic Hallucinations: </a:t>
            </a:r>
            <a:r>
              <a:rPr sz="1500" b="0">
                <a:solidFill>
                  <a:srgbClr val="635D56"/>
                </a:solidFill>
              </a:rPr>
              <a:t>Instead of vague boilerplate responses, the AI answers student queries with exact room numbers, lecture timings, and faculty names.</a:t>
            </a:r>
            <a:endParaRPr sz="1500" b="0">
              <a:solidFill>
                <a:srgbClr val="635D56"/>
              </a:solidFill>
            </a:endParaRPr>
          </a:p>
          <a:p>
            <a:pPr>
              <a:spcAft>
                <a:spcPts val="700"/>
              </a:spcAft>
              <a:defRPr sz="1050" b="1">
                <a:solidFill>
                  <a:srgbClr val="242220"/>
                </a:solidFill>
              </a:defRPr>
            </a:pPr>
            <a:r>
              <a:rPr sz="1500"/>
              <a:t>★ Emotional Support &amp; Campus Mentoring: </a:t>
            </a:r>
            <a:r>
              <a:rPr sz="1500" b="0">
                <a:solidFill>
                  <a:srgbClr val="635D56"/>
                </a:solidFill>
              </a:rPr>
              <a:t>Built-in emotional intelligence layer providing empathetic exam guidance, study-stress relief, and peer productivity tips.</a:t>
            </a:r>
            <a:endParaRPr sz="1500" b="0">
              <a:solidFill>
                <a:srgbClr val="635D56"/>
              </a:solidFill>
            </a:endParaRPr>
          </a:p>
          <a:p>
            <a:pPr>
              <a:spcAft>
                <a:spcPts val="700"/>
              </a:spcAft>
              <a:defRPr sz="1050" b="1">
                <a:solidFill>
                  <a:srgbClr val="242220"/>
                </a:solidFill>
              </a:defRPr>
            </a:pPr>
            <a:r>
              <a:rPr sz="1500"/>
              <a:t>★ Model Failover Architecture: </a:t>
            </a:r>
            <a:r>
              <a:rPr sz="1500" b="0">
                <a:solidFill>
                  <a:srgbClr val="635D56"/>
                </a:solidFill>
              </a:rPr>
              <a:t>Primary inference via Google Gemini 2.5 Flash with resilient retry mechanisms to guarantee 99.9% chatbot uptime.</a:t>
            </a:r>
            <a:endParaRPr sz="1500" b="0">
              <a:solidFill>
                <a:srgbClr val="635D56"/>
              </a:solidFill>
            </a:endParaRPr>
          </a:p>
        </p:txBody>
      </p:sp>
      <p:sp>
        <p:nvSpPr>
          <p:cNvPr id="10" name="Rounded Rectangle 9"/>
          <p:cNvSpPr/>
          <p:nvPr/>
        </p:nvSpPr>
        <p:spPr>
          <a:xfrm>
            <a:off x="6172200" y="1554480"/>
            <a:ext cx="5287975" cy="4572000"/>
          </a:xfrm>
          <a:prstGeom prst="roundRect">
            <a:avLst/>
          </a:prstGeom>
          <a:solidFill>
            <a:srgbClr val="141414"/>
          </a:solidFill>
          <a:ln w="1524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46320" cy="3984625"/>
          </a:xfrm>
          <a:prstGeom prst="rect">
            <a:avLst/>
          </a:prstGeom>
          <a:noFill/>
        </p:spPr>
        <p:txBody>
          <a:bodyPr wrap="square">
            <a:spAutoFit/>
          </a:bodyPr>
          <a:lstStyle/>
          <a:p>
            <a:pPr>
              <a:spcAft>
                <a:spcPts val="1200"/>
              </a:spcAft>
              <a:defRPr sz="1300" b="1">
                <a:solidFill>
                  <a:srgbClr val="F7F3EB"/>
                </a:solidFill>
              </a:defRPr>
            </a:pPr>
            <a:r>
              <a:t>LIVE TESTED PROMPT INTERACTION</a:t>
            </a:r>
          </a:p>
          <a:p>
            <a:pPr>
              <a:defRPr sz="1000" b="1">
                <a:solidFill>
                  <a:srgbClr val="D8CEBD"/>
                </a:solidFill>
              </a:defRPr>
            </a:pPr>
            <a:r>
              <a:rPr sz="1500"/>
              <a:t>Student Prompt:</a:t>
            </a:r>
            <a:endParaRPr sz="1500"/>
          </a:p>
          <a:p>
            <a:pPr>
              <a:spcAft>
                <a:spcPts val="800"/>
              </a:spcAft>
              <a:defRPr sz="1050">
                <a:solidFill>
                  <a:srgbClr val="FFFFFF"/>
                </a:solidFill>
              </a:defRPr>
            </a:pPr>
            <a:r>
              <a:rPr sz="1500"/>
              <a:t>Where is my Research Methodology lecture today, and who teaches it?</a:t>
            </a:r>
            <a:endParaRPr sz="1500"/>
          </a:p>
          <a:p>
            <a:pPr>
              <a:defRPr sz="1000" b="1">
                <a:solidFill>
                  <a:srgbClr val="D8CEBD"/>
                </a:solidFill>
              </a:defRPr>
            </a:pPr>
            <a:r>
              <a:rPr sz="1500"/>
              <a:t>Academic Universe AI:</a:t>
            </a:r>
            <a:endParaRPr sz="1500"/>
          </a:p>
          <a:p>
            <a:pPr>
              <a:spcAft>
                <a:spcPts val="800"/>
              </a:spcAft>
              <a:defRPr sz="1050">
                <a:solidFill>
                  <a:srgbClr val="FFFFFF"/>
                </a:solidFill>
              </a:defRPr>
            </a:pPr>
            <a:r>
              <a:rPr sz="1500"/>
              <a:t>Your Research Methodology class is scheduled in Room 206, Block 3 from 10:40 AM to 11:25 AM. The course is conducted by Dr. Batri K. Make sure to arrive 5 minutes early!</a:t>
            </a:r>
            <a:endParaRPr sz="1500"/>
          </a:p>
          <a:p>
            <a:pPr>
              <a:defRPr sz="1000" b="1">
                <a:solidFill>
                  <a:srgbClr val="D8CEBD"/>
                </a:solidFill>
              </a:defRPr>
            </a:pPr>
            <a:r>
              <a:rPr sz="1500"/>
              <a:t>Student Prompt:</a:t>
            </a:r>
            <a:endParaRPr sz="1500"/>
          </a:p>
          <a:p>
            <a:pPr>
              <a:spcAft>
                <a:spcPts val="800"/>
              </a:spcAft>
              <a:defRPr sz="1050">
                <a:solidFill>
                  <a:srgbClr val="FFFFFF"/>
                </a:solidFill>
              </a:defRPr>
            </a:pPr>
            <a:r>
              <a:rPr sz="1500"/>
              <a:t>Where do I go for my Simulation Lab session?</a:t>
            </a:r>
            <a:endParaRPr sz="1500"/>
          </a:p>
          <a:p>
            <a:pPr>
              <a:defRPr sz="1000" b="1">
                <a:solidFill>
                  <a:srgbClr val="D8CEBD"/>
                </a:solidFill>
              </a:defRPr>
            </a:pPr>
            <a:r>
              <a:rPr sz="1500"/>
              <a:t>Academic Universe AI:</a:t>
            </a:r>
            <a:endParaRPr sz="1500"/>
          </a:p>
          <a:p>
            <a:pPr>
              <a:spcAft>
                <a:spcPts val="800"/>
              </a:spcAft>
              <a:defRPr sz="1050">
                <a:solidFill>
                  <a:srgbClr val="FFFFFF"/>
                </a:solidFill>
              </a:defRPr>
            </a:pPr>
            <a:r>
              <a:rPr sz="1500"/>
              <a:t>Your Technical Skill Enhancement Simulation Lab takes place in Room No 008, Block 3 under the guidance of Mr. Mayank Aggarwal.</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tIns="0" rIns="0" bIns="0">
            <a:spAutoFit/>
          </a:bodyPr>
          <a:lstStyle/>
          <a:p>
            <a:pPr>
              <a:defRPr sz="1000" b="1">
                <a:solidFill>
                  <a:srgbClr val="111111"/>
                </a:solidFill>
              </a:defRPr>
            </a:pPr>
            <a:r>
              <a:t>ALGORITHMIC SCHEDULING &amp; COLLABORATION</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111111"/>
                </a:solidFill>
              </a:defRPr>
            </a:pPr>
            <a:r>
              <a:t>Module 3: Overlap Engine — Smart Student Free-Time Planner</a:t>
            </a:r>
          </a:p>
        </p:txBody>
      </p:sp>
      <p:sp>
        <p:nvSpPr>
          <p:cNvPr id="5" name="Rectangle 4"/>
          <p:cNvSpPr/>
          <p:nvPr/>
        </p:nvSpPr>
        <p:spPr>
          <a:xfrm>
            <a:off x="731520" y="6400800"/>
            <a:ext cx="10728655" cy="18288"/>
          </a:xfrm>
          <a:prstGeom prst="rect">
            <a:avLst/>
          </a:prstGeom>
          <a:solidFill>
            <a:srgbClr val="E5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35D56"/>
                </a:solidFill>
                <a:latin typeface="Segoe UI" panose="020B0502040204020203"/>
              </a:defRPr>
            </a:pPr>
            <a:r>
              <a:t>AcademicUniverse | Guide: Ms. Kamini, Co-Guide: Ms. Mekhala | Team: Kushagra, Aashish, Avdesh</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11111"/>
                </a:solidFill>
              </a:defRPr>
            </a:pPr>
            <a:r>
              <a:t>6 / 10</a:t>
            </a:r>
          </a:p>
        </p:txBody>
      </p:sp>
      <p:sp>
        <p:nvSpPr>
          <p:cNvPr id="8" name="Rounded Rectangle 7"/>
          <p:cNvSpPr/>
          <p:nvPr/>
        </p:nvSpPr>
        <p:spPr>
          <a:xfrm>
            <a:off x="731520" y="1554480"/>
            <a:ext cx="5257800" cy="457200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4271645"/>
          </a:xfrm>
          <a:prstGeom prst="rect">
            <a:avLst/>
          </a:prstGeom>
          <a:noFill/>
        </p:spPr>
        <p:txBody>
          <a:bodyPr wrap="square">
            <a:spAutoFit/>
          </a:bodyPr>
          <a:lstStyle/>
          <a:p>
            <a:pPr>
              <a:spcAft>
                <a:spcPts val="1000"/>
              </a:spcAft>
              <a:defRPr sz="1600" b="1">
                <a:solidFill>
                  <a:srgbClr val="111111"/>
                </a:solidFill>
              </a:defRPr>
            </a:pPr>
            <a:r>
              <a:t>Mathematical Free-Slot Intersection</a:t>
            </a:r>
          </a:p>
          <a:p>
            <a:pPr>
              <a:spcAft>
                <a:spcPts val="700"/>
              </a:spcAft>
              <a:defRPr sz="1050" b="1">
                <a:solidFill>
                  <a:srgbClr val="242220"/>
                </a:solidFill>
              </a:defRPr>
            </a:pPr>
            <a:r>
              <a:t>✔</a:t>
            </a:r>
            <a:r>
              <a:rPr sz="1400"/>
              <a:t> N-Way Interval Intersection: </a:t>
            </a:r>
            <a:r>
              <a:rPr sz="1400" b="0">
                <a:solidFill>
                  <a:srgbClr val="635D56"/>
                </a:solidFill>
              </a:rPr>
              <a:t>Mathematical interval algorithm that maps daily schedules onto standardized institutional 50-minute periods (09:00 - 16:40) across Monday through Saturday.</a:t>
            </a:r>
            <a:endParaRPr sz="1400" b="0">
              <a:solidFill>
                <a:srgbClr val="635D56"/>
              </a:solidFill>
            </a:endParaRPr>
          </a:p>
          <a:p>
            <a:pPr>
              <a:spcAft>
                <a:spcPts val="700"/>
              </a:spcAft>
              <a:defRPr sz="1050" b="1">
                <a:solidFill>
                  <a:srgbClr val="242220"/>
                </a:solidFill>
              </a:defRPr>
            </a:pPr>
            <a:r>
              <a:rPr sz="1400"/>
              <a:t>✔ Multi-Student Selection (1 to 5): </a:t>
            </a:r>
            <a:r>
              <a:rPr sz="1400" b="0">
                <a:solidFill>
                  <a:srgbClr val="635D56"/>
                </a:solidFill>
              </a:rPr>
              <a:t>Allows any student to search and pick up to 5 peers in their department to compute mutually free meeting intervals.</a:t>
            </a:r>
            <a:endParaRPr sz="1400" b="0">
              <a:solidFill>
                <a:srgbClr val="635D56"/>
              </a:solidFill>
            </a:endParaRPr>
          </a:p>
          <a:p>
            <a:pPr>
              <a:spcAft>
                <a:spcPts val="700"/>
              </a:spcAft>
              <a:defRPr sz="1050" b="1">
                <a:solidFill>
                  <a:srgbClr val="242220"/>
                </a:solidFill>
              </a:defRPr>
            </a:pPr>
            <a:r>
              <a:rPr sz="1400"/>
              <a:t>✔ Live Identity &amp; System ID Resolution: </a:t>
            </a:r>
            <a:r>
              <a:rPr sz="1400" b="0">
                <a:solidFill>
                  <a:srgbClr val="635D56"/>
                </a:solidFill>
              </a:rPr>
              <a:t>Dynamically links MongoDB 'User' records with 'EzoneAcademicProfile' so real names ('Aashish Rajput', 'Vishal Sharma') and System IDs are displayed.</a:t>
            </a:r>
            <a:endParaRPr sz="1400" b="0">
              <a:solidFill>
                <a:srgbClr val="635D56"/>
              </a:solidFill>
            </a:endParaRPr>
          </a:p>
          <a:p>
            <a:pPr>
              <a:spcAft>
                <a:spcPts val="700"/>
              </a:spcAft>
              <a:defRPr sz="1050" b="1">
                <a:solidFill>
                  <a:srgbClr val="242220"/>
                </a:solidFill>
              </a:defRPr>
            </a:pPr>
            <a:r>
              <a:rPr sz="1400"/>
              <a:t>✔ Schedule Sync Verification Badges: </a:t>
            </a:r>
            <a:r>
              <a:rPr sz="1400" b="0">
                <a:solidFill>
                  <a:srgbClr val="635D56"/>
                </a:solidFill>
              </a:rPr>
              <a:t>Visual '✅ Synced Schedule' vs '⚠ Never Synced' status badges prevent planning meetings with students who have not uploaded timetables.</a:t>
            </a:r>
            <a:endParaRPr sz="1400" b="0">
              <a:solidFill>
                <a:srgbClr val="635D56"/>
              </a:solidFill>
            </a:endParaRPr>
          </a:p>
          <a:p>
            <a:pPr>
              <a:spcAft>
                <a:spcPts val="700"/>
              </a:spcAft>
              <a:defRPr sz="1050" b="1">
                <a:solidFill>
                  <a:srgbClr val="242220"/>
                </a:solidFill>
              </a:defRPr>
            </a:pPr>
            <a:r>
              <a:rPr sz="1400"/>
              <a:t>✔ Host (You) Status Card: </a:t>
            </a:r>
            <a:r>
              <a:rPr sz="1400" b="0">
                <a:solidFill>
                  <a:srgbClr val="635D56"/>
                </a:solidFill>
              </a:rPr>
              <a:t>Prominently highlights the logged-in user as the meeting host with their active synced schedule ready for coordination.</a:t>
            </a:r>
            <a:endParaRPr sz="1400" b="0">
              <a:solidFill>
                <a:srgbClr val="635D56"/>
              </a:solidFill>
            </a:endParaRPr>
          </a:p>
        </p:txBody>
      </p:sp>
      <p:sp>
        <p:nvSpPr>
          <p:cNvPr id="10" name="Rounded Rectangle 9"/>
          <p:cNvSpPr/>
          <p:nvPr/>
        </p:nvSpPr>
        <p:spPr>
          <a:xfrm>
            <a:off x="6172200" y="1554480"/>
            <a:ext cx="5287975" cy="4572000"/>
          </a:xfrm>
          <a:prstGeom prst="roundRect">
            <a:avLst/>
          </a:prstGeom>
          <a:solidFill>
            <a:srgbClr val="141414"/>
          </a:solidFill>
          <a:ln w="1524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46320" cy="4036060"/>
          </a:xfrm>
          <a:prstGeom prst="rect">
            <a:avLst/>
          </a:prstGeom>
          <a:noFill/>
        </p:spPr>
        <p:txBody>
          <a:bodyPr wrap="square">
            <a:spAutoFit/>
          </a:bodyPr>
          <a:lstStyle/>
          <a:p>
            <a:pPr>
              <a:spcAft>
                <a:spcPts val="1200"/>
              </a:spcAft>
              <a:defRPr sz="1300" b="1">
                <a:solidFill>
                  <a:srgbClr val="F7F3EB"/>
                </a:solidFill>
              </a:defRPr>
            </a:pPr>
            <a:r>
              <a:t>HOW OVERLAP ENGINE FINDS COMMON TIME</a:t>
            </a:r>
          </a:p>
          <a:p>
            <a:pPr>
              <a:defRPr sz="1050" b="1">
                <a:solidFill>
                  <a:srgbClr val="D8CEBD"/>
                </a:solidFill>
              </a:defRPr>
            </a:pPr>
            <a:r>
              <a:rPr sz="1400"/>
              <a:t>Step 1: Student Search</a:t>
            </a:r>
            <a:endParaRPr sz="1400"/>
          </a:p>
          <a:p>
            <a:pPr>
              <a:spcAft>
                <a:spcPts val="700"/>
              </a:spcAft>
              <a:defRPr sz="1000">
                <a:solidFill>
                  <a:srgbClr val="FFFFFF"/>
                </a:solidFill>
              </a:defRPr>
            </a:pPr>
            <a:r>
              <a:rPr sz="1400"/>
              <a:t>Search peers by System ID (e.g. 2024427058) or Name. Tenant-isolated to Sharda University.</a:t>
            </a:r>
            <a:endParaRPr sz="1400"/>
          </a:p>
          <a:p>
            <a:pPr>
              <a:defRPr sz="1050" b="1">
                <a:solidFill>
                  <a:srgbClr val="D8CEBD"/>
                </a:solidFill>
              </a:defRPr>
            </a:pPr>
            <a:r>
              <a:rPr sz="1400"/>
              <a:t>Step 2: Timetable Ingestion</a:t>
            </a:r>
            <a:endParaRPr sz="1400"/>
          </a:p>
          <a:p>
            <a:pPr>
              <a:spcAft>
                <a:spcPts val="700"/>
              </a:spcAft>
              <a:defRPr sz="1000">
                <a:solidFill>
                  <a:srgbClr val="FFFFFF"/>
                </a:solidFill>
              </a:defRPr>
            </a:pPr>
            <a:r>
              <a:rPr sz="1400"/>
              <a:t>Engine fetches verified E-Zone timetable matrix for Host + all selected participant IDs.</a:t>
            </a:r>
            <a:endParaRPr sz="1400"/>
          </a:p>
          <a:p>
            <a:pPr>
              <a:defRPr sz="1050" b="1">
                <a:solidFill>
                  <a:srgbClr val="D8CEBD"/>
                </a:solidFill>
              </a:defRPr>
            </a:pPr>
            <a:r>
              <a:rPr sz="1400"/>
              <a:t>Step 3: Interval Intersection</a:t>
            </a:r>
            <a:endParaRPr sz="1400"/>
          </a:p>
          <a:p>
            <a:pPr>
              <a:spcAft>
                <a:spcPts val="700"/>
              </a:spcAft>
              <a:defRPr sz="1000">
                <a:solidFill>
                  <a:srgbClr val="FFFFFF"/>
                </a:solidFill>
              </a:defRPr>
            </a:pPr>
            <a:r>
              <a:rPr sz="1400"/>
              <a:t>Performs mathematical set intersection: Free(Day) = Free(Host) ∩ Free(Student A) ∩ Free(Student B).</a:t>
            </a:r>
            <a:endParaRPr sz="1400"/>
          </a:p>
          <a:p>
            <a:pPr>
              <a:defRPr sz="1050" b="1">
                <a:solidFill>
                  <a:srgbClr val="D8CEBD"/>
                </a:solidFill>
              </a:defRPr>
            </a:pPr>
            <a:r>
              <a:rPr sz="1400"/>
              <a:t>Step 4: AI Ranked Slots</a:t>
            </a:r>
            <a:endParaRPr sz="1400"/>
          </a:p>
          <a:p>
            <a:pPr>
              <a:spcAft>
                <a:spcPts val="700"/>
              </a:spcAft>
              <a:defRPr sz="1000">
                <a:solidFill>
                  <a:srgbClr val="FFFFFF"/>
                </a:solidFill>
              </a:defRPr>
            </a:pPr>
            <a:r>
              <a:rPr sz="1400"/>
              <a:t>Consecutive free periods are grouped into 1-hour or 2-hour blocks and ranked for optimal study sessions.</a:t>
            </a:r>
            <a:endParaRPr sz="1400"/>
          </a:p>
          <a:p>
            <a:pPr>
              <a:defRPr sz="1050" b="1">
                <a:solidFill>
                  <a:srgbClr val="D8CEBD"/>
                </a:solidFill>
              </a:defRPr>
            </a:pPr>
            <a:r>
              <a:rPr sz="1400"/>
              <a:t>Step 5: Instant Share / Export</a:t>
            </a:r>
            <a:endParaRPr sz="1400"/>
          </a:p>
          <a:p>
            <a:pPr>
              <a:spcAft>
                <a:spcPts val="700"/>
              </a:spcAft>
              <a:defRPr sz="1000">
                <a:solidFill>
                  <a:srgbClr val="FFFFFF"/>
                </a:solidFill>
              </a:defRPr>
            </a:pPr>
            <a:r>
              <a:rPr sz="1400"/>
              <a:t>One-click copy of meeting recommendations with exact period timings and room recommendations.</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tIns="0" rIns="0" bIns="0">
            <a:spAutoFit/>
          </a:bodyPr>
          <a:lstStyle/>
          <a:p>
            <a:pPr>
              <a:defRPr sz="1000" b="1">
                <a:solidFill>
                  <a:srgbClr val="111111"/>
                </a:solidFill>
              </a:defRPr>
            </a:pPr>
            <a:r>
              <a:t>RESEARCH &amp; SCHOLARLY PUBLICATION</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111111"/>
                </a:solidFill>
              </a:defRPr>
            </a:pPr>
            <a:r>
              <a:t>Module 4: AI-Powered Academic Research Wing</a:t>
            </a:r>
          </a:p>
        </p:txBody>
      </p:sp>
      <p:sp>
        <p:nvSpPr>
          <p:cNvPr id="5" name="Rectangle 4"/>
          <p:cNvSpPr/>
          <p:nvPr/>
        </p:nvSpPr>
        <p:spPr>
          <a:xfrm>
            <a:off x="731520" y="6400800"/>
            <a:ext cx="10728655" cy="18288"/>
          </a:xfrm>
          <a:prstGeom prst="rect">
            <a:avLst/>
          </a:prstGeom>
          <a:solidFill>
            <a:srgbClr val="E5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35D56"/>
                </a:solidFill>
                <a:latin typeface="Segoe UI" panose="020B0502040204020203"/>
              </a:defRPr>
            </a:pPr>
            <a:r>
              <a:t>AcademicUniverse | Guide: Ms. Kamini, Co-Guide: Ms. Mekhala | Team: Kushagra, Aashish, Avdesh</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11111"/>
                </a:solidFill>
              </a:defRPr>
            </a:pPr>
            <a:r>
              <a:t>7 / 10</a:t>
            </a:r>
          </a:p>
        </p:txBody>
      </p:sp>
      <p:sp>
        <p:nvSpPr>
          <p:cNvPr id="8" name="Rounded Rectangle 7"/>
          <p:cNvSpPr/>
          <p:nvPr/>
        </p:nvSpPr>
        <p:spPr>
          <a:xfrm>
            <a:off x="731520" y="1554480"/>
            <a:ext cx="347472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3108960" cy="1276350"/>
          </a:xfrm>
          <a:prstGeom prst="rect">
            <a:avLst/>
          </a:prstGeom>
          <a:noFill/>
        </p:spPr>
        <p:txBody>
          <a:bodyPr wrap="square">
            <a:spAutoFit/>
          </a:bodyPr>
          <a:lstStyle/>
          <a:p>
            <a:pPr>
              <a:spcAft>
                <a:spcPts val="600"/>
              </a:spcAft>
              <a:defRPr sz="1200" b="1">
                <a:solidFill>
                  <a:srgbClr val="111111"/>
                </a:solidFill>
              </a:defRPr>
            </a:pPr>
            <a:r>
              <a:t>1. TOPIC GENERATION</a:t>
            </a:r>
          </a:p>
          <a:p>
            <a:pPr>
              <a:defRPr sz="1050">
                <a:solidFill>
                  <a:srgbClr val="242220"/>
                </a:solidFill>
              </a:defRPr>
            </a:pPr>
            <a:r>
              <a:rPr sz="1500"/>
              <a:t>Explores high-impact research topics, problem formulations, and state-of-the-art gap analysis based on student's engineering interests.</a:t>
            </a:r>
            <a:endParaRPr sz="1500"/>
          </a:p>
        </p:txBody>
      </p:sp>
      <p:sp>
        <p:nvSpPr>
          <p:cNvPr id="10" name="Rounded Rectangle 9"/>
          <p:cNvSpPr/>
          <p:nvPr/>
        </p:nvSpPr>
        <p:spPr>
          <a:xfrm>
            <a:off x="4343400" y="1554480"/>
            <a:ext cx="347472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737360"/>
            <a:ext cx="3108960" cy="1276350"/>
          </a:xfrm>
          <a:prstGeom prst="rect">
            <a:avLst/>
          </a:prstGeom>
          <a:noFill/>
        </p:spPr>
        <p:txBody>
          <a:bodyPr wrap="square">
            <a:spAutoFit/>
          </a:bodyPr>
          <a:lstStyle/>
          <a:p>
            <a:pPr>
              <a:spcAft>
                <a:spcPts val="600"/>
              </a:spcAft>
              <a:defRPr sz="1200" b="1">
                <a:solidFill>
                  <a:srgbClr val="111111"/>
                </a:solidFill>
              </a:defRPr>
            </a:pPr>
            <a:r>
              <a:t>2. RESEARCH OUTLINE</a:t>
            </a:r>
          </a:p>
          <a:p>
            <a:pPr>
              <a:defRPr sz="1050">
                <a:solidFill>
                  <a:srgbClr val="242220"/>
                </a:solidFill>
              </a:defRPr>
            </a:pPr>
            <a:r>
              <a:rPr sz="1500"/>
              <a:t>Synthesizes structured academic outlines following IEEE and ACM standard templates with clear subsection breakdowns.</a:t>
            </a:r>
            <a:endParaRPr sz="1500"/>
          </a:p>
        </p:txBody>
      </p:sp>
      <p:sp>
        <p:nvSpPr>
          <p:cNvPr id="12" name="Rounded Rectangle 11"/>
          <p:cNvSpPr/>
          <p:nvPr/>
        </p:nvSpPr>
        <p:spPr>
          <a:xfrm>
            <a:off x="7955280" y="1554480"/>
            <a:ext cx="347472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0" y="1737360"/>
            <a:ext cx="3108960" cy="1276350"/>
          </a:xfrm>
          <a:prstGeom prst="rect">
            <a:avLst/>
          </a:prstGeom>
          <a:noFill/>
        </p:spPr>
        <p:txBody>
          <a:bodyPr wrap="square">
            <a:spAutoFit/>
          </a:bodyPr>
          <a:lstStyle/>
          <a:p>
            <a:pPr>
              <a:spcAft>
                <a:spcPts val="600"/>
              </a:spcAft>
              <a:defRPr sz="1200" b="1">
                <a:solidFill>
                  <a:srgbClr val="111111"/>
                </a:solidFill>
              </a:defRPr>
            </a:pPr>
            <a:r>
              <a:t>3. CONTENT WRITER</a:t>
            </a:r>
          </a:p>
          <a:p>
            <a:pPr>
              <a:defRPr sz="1050">
                <a:solidFill>
                  <a:srgbClr val="242220"/>
                </a:solidFill>
              </a:defRPr>
            </a:pPr>
            <a:r>
              <a:rPr sz="1500"/>
              <a:t>Full-length section generation with interactive prompt improvement, literature review expansion, and formula formatting.</a:t>
            </a:r>
            <a:endParaRPr sz="1500"/>
          </a:p>
        </p:txBody>
      </p:sp>
      <p:sp>
        <p:nvSpPr>
          <p:cNvPr id="14" name="Rounded Rectangle 13"/>
          <p:cNvSpPr/>
          <p:nvPr/>
        </p:nvSpPr>
        <p:spPr>
          <a:xfrm>
            <a:off x="731520" y="3840480"/>
            <a:ext cx="347472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23360"/>
            <a:ext cx="3108960" cy="1276350"/>
          </a:xfrm>
          <a:prstGeom prst="rect">
            <a:avLst/>
          </a:prstGeom>
          <a:noFill/>
        </p:spPr>
        <p:txBody>
          <a:bodyPr wrap="square">
            <a:spAutoFit/>
          </a:bodyPr>
          <a:lstStyle/>
          <a:p>
            <a:pPr>
              <a:spcAft>
                <a:spcPts val="600"/>
              </a:spcAft>
              <a:defRPr sz="1200" b="1">
                <a:solidFill>
                  <a:srgbClr val="111111"/>
                </a:solidFill>
              </a:defRPr>
            </a:pPr>
            <a:r>
              <a:t>4. ABSTRACT &amp; CITATIONS</a:t>
            </a:r>
          </a:p>
          <a:p>
            <a:pPr>
              <a:defRPr sz="1050">
                <a:solidFill>
                  <a:srgbClr val="242220"/>
                </a:solidFill>
              </a:defRPr>
            </a:pPr>
            <a:r>
              <a:rPr sz="1500"/>
              <a:t>Generates concise IEEE-style abstracts and properly formatted scholarly bibliographies with DOI indexing.</a:t>
            </a:r>
            <a:endParaRPr sz="1500"/>
          </a:p>
        </p:txBody>
      </p:sp>
      <p:sp>
        <p:nvSpPr>
          <p:cNvPr id="16" name="Rounded Rectangle 15"/>
          <p:cNvSpPr/>
          <p:nvPr/>
        </p:nvSpPr>
        <p:spPr>
          <a:xfrm>
            <a:off x="4343400" y="3840480"/>
            <a:ext cx="347472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4023360"/>
            <a:ext cx="3108960" cy="1045210"/>
          </a:xfrm>
          <a:prstGeom prst="rect">
            <a:avLst/>
          </a:prstGeom>
          <a:noFill/>
        </p:spPr>
        <p:txBody>
          <a:bodyPr wrap="square">
            <a:spAutoFit/>
          </a:bodyPr>
          <a:lstStyle/>
          <a:p>
            <a:pPr>
              <a:spcAft>
                <a:spcPts val="600"/>
              </a:spcAft>
              <a:defRPr sz="1200" b="1">
                <a:solidFill>
                  <a:srgbClr val="111111"/>
                </a:solidFill>
              </a:defRPr>
            </a:pPr>
            <a:r>
              <a:t>5. FINAL EXPORT</a:t>
            </a:r>
          </a:p>
          <a:p>
            <a:pPr>
              <a:defRPr sz="1050">
                <a:solidFill>
                  <a:srgbClr val="242220"/>
                </a:solidFill>
              </a:defRPr>
            </a:pPr>
            <a:r>
              <a:rPr sz="1500"/>
              <a:t>One-click export directly to publication-ready PDF and editable Microsoft Word (DOCX) files.</a:t>
            </a:r>
            <a:endParaRPr sz="1500"/>
          </a:p>
        </p:txBody>
      </p:sp>
      <p:sp>
        <p:nvSpPr>
          <p:cNvPr id="18" name="Rounded Rectangle 17"/>
          <p:cNvSpPr/>
          <p:nvPr/>
        </p:nvSpPr>
        <p:spPr>
          <a:xfrm>
            <a:off x="7955280" y="3840480"/>
            <a:ext cx="347472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4023360"/>
            <a:ext cx="3108960" cy="1045210"/>
          </a:xfrm>
          <a:prstGeom prst="rect">
            <a:avLst/>
          </a:prstGeom>
          <a:noFill/>
        </p:spPr>
        <p:txBody>
          <a:bodyPr wrap="square">
            <a:spAutoFit/>
          </a:bodyPr>
          <a:lstStyle/>
          <a:p>
            <a:pPr>
              <a:spcAft>
                <a:spcPts val="600"/>
              </a:spcAft>
              <a:defRPr sz="1200" b="1">
                <a:solidFill>
                  <a:srgbClr val="111111"/>
                </a:solidFill>
              </a:defRPr>
            </a:pPr>
            <a:r>
              <a:t>6. DRAFT HISTORY</a:t>
            </a:r>
          </a:p>
          <a:p>
            <a:pPr>
              <a:defRPr sz="1050">
                <a:solidFill>
                  <a:srgbClr val="242220"/>
                </a:solidFill>
              </a:defRPr>
            </a:pPr>
            <a:r>
              <a:rPr sz="1500"/>
              <a:t>Saves all research iterations in MongoDB Atlas so students can resume drafting papers at any time.</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tIns="0" rIns="0" bIns="0">
            <a:spAutoFit/>
          </a:bodyPr>
          <a:lstStyle/>
          <a:p>
            <a:pPr>
              <a:defRPr sz="1000" b="1">
                <a:solidFill>
                  <a:srgbClr val="111111"/>
                </a:solidFill>
              </a:defRPr>
            </a:pPr>
            <a:r>
              <a:t>DIGITAL CREDENTIALING &amp; GMAIL SYNC</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111111"/>
                </a:solidFill>
              </a:defRPr>
            </a:pPr>
            <a:r>
              <a:t>Module 5: Verifiable Academic Records &amp; Document Intelligence</a:t>
            </a:r>
          </a:p>
        </p:txBody>
      </p:sp>
      <p:sp>
        <p:nvSpPr>
          <p:cNvPr id="5" name="Rectangle 4"/>
          <p:cNvSpPr/>
          <p:nvPr/>
        </p:nvSpPr>
        <p:spPr>
          <a:xfrm>
            <a:off x="731520" y="6400800"/>
            <a:ext cx="10728655" cy="18288"/>
          </a:xfrm>
          <a:prstGeom prst="rect">
            <a:avLst/>
          </a:prstGeom>
          <a:solidFill>
            <a:srgbClr val="E5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35D56"/>
                </a:solidFill>
                <a:latin typeface="Segoe UI" panose="020B0502040204020203"/>
              </a:defRPr>
            </a:pPr>
            <a:r>
              <a:t>AcademicUniverse | Guide: Ms. Kamini, Co-Guide: Ms. Mekhala | Team: Kushagra, Aashish, Avdesh</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11111"/>
                </a:solidFill>
              </a:defRPr>
            </a:pPr>
            <a:r>
              <a:t>8 / 10</a:t>
            </a:r>
          </a:p>
        </p:txBody>
      </p:sp>
      <p:sp>
        <p:nvSpPr>
          <p:cNvPr id="8" name="Rounded Rectangle 7"/>
          <p:cNvSpPr/>
          <p:nvPr/>
        </p:nvSpPr>
        <p:spPr>
          <a:xfrm>
            <a:off x="731520" y="1554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91640"/>
            <a:ext cx="4892040" cy="1619885"/>
          </a:xfrm>
          <a:prstGeom prst="rect">
            <a:avLst/>
          </a:prstGeom>
          <a:noFill/>
        </p:spPr>
        <p:txBody>
          <a:bodyPr wrap="square">
            <a:spAutoFit/>
          </a:bodyPr>
          <a:lstStyle/>
          <a:p>
            <a:pPr>
              <a:spcAft>
                <a:spcPts val="600"/>
              </a:spcAft>
              <a:defRPr sz="1300" b="1">
                <a:solidFill>
                  <a:srgbClr val="111111"/>
                </a:solidFill>
              </a:defRPr>
            </a:pPr>
            <a:r>
              <a:t>Verifiable Academic Records (GridFS Vault)</a:t>
            </a:r>
          </a:p>
          <a:p>
            <a:pPr>
              <a:spcAft>
                <a:spcPts val="200"/>
              </a:spcAft>
              <a:defRPr sz="1000">
                <a:solidFill>
                  <a:srgbClr val="242220"/>
                </a:solidFill>
              </a:defRPr>
            </a:pPr>
            <a:r>
              <a:t>•</a:t>
            </a:r>
            <a:r>
              <a:rPr sz="1300"/>
              <a:t> Secure storage of 57+ genuine academic achievement records &amp; certificates</a:t>
            </a:r>
            <a:endParaRPr sz="1300"/>
          </a:p>
          <a:p>
            <a:pPr>
              <a:spcAft>
                <a:spcPts val="200"/>
              </a:spcAft>
              <a:defRPr sz="1000">
                <a:solidFill>
                  <a:srgbClr val="242220"/>
                </a:solidFill>
              </a:defRPr>
            </a:pPr>
            <a:r>
              <a:rPr sz="1300"/>
              <a:t>• Binary files stored in MongoDB GridFS with SHA-256 integrity verification</a:t>
            </a:r>
            <a:endParaRPr sz="1300"/>
          </a:p>
          <a:p>
            <a:pPr>
              <a:spcAft>
                <a:spcPts val="200"/>
              </a:spcAft>
              <a:defRPr sz="1000">
                <a:solidFill>
                  <a:srgbClr val="242220"/>
                </a:solidFill>
              </a:defRPr>
            </a:pPr>
            <a:r>
              <a:rPr sz="1300"/>
              <a:t>• Eliminates lost certificates and simplifies placement credential sharing</a:t>
            </a:r>
            <a:endParaRPr sz="1300"/>
          </a:p>
        </p:txBody>
      </p:sp>
      <p:sp>
        <p:nvSpPr>
          <p:cNvPr id="10" name="Rounded Rectangle 9"/>
          <p:cNvSpPr/>
          <p:nvPr/>
        </p:nvSpPr>
        <p:spPr>
          <a:xfrm>
            <a:off x="6172200" y="1554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91640"/>
            <a:ext cx="4892040" cy="1845310"/>
          </a:xfrm>
          <a:prstGeom prst="rect">
            <a:avLst/>
          </a:prstGeom>
          <a:noFill/>
        </p:spPr>
        <p:txBody>
          <a:bodyPr wrap="square">
            <a:spAutoFit/>
          </a:bodyPr>
          <a:lstStyle/>
          <a:p>
            <a:pPr>
              <a:spcAft>
                <a:spcPts val="600"/>
              </a:spcAft>
              <a:defRPr sz="1300" b="1">
                <a:solidFill>
                  <a:srgbClr val="111111"/>
                </a:solidFill>
              </a:defRPr>
            </a:pPr>
            <a:r>
              <a:t>Document Intelligence Pipeline</a:t>
            </a:r>
          </a:p>
          <a:p>
            <a:pPr>
              <a:spcAft>
                <a:spcPts val="200"/>
              </a:spcAft>
              <a:defRPr sz="1000">
                <a:solidFill>
                  <a:srgbClr val="242220"/>
                </a:solidFill>
              </a:defRPr>
            </a:pPr>
            <a:r>
              <a:t>• </a:t>
            </a:r>
            <a:r>
              <a:rPr sz="1300"/>
              <a:t>Automated thumbnail generation for instant document inspection and preview</a:t>
            </a:r>
            <a:endParaRPr sz="1300"/>
          </a:p>
          <a:p>
            <a:pPr>
              <a:spcAft>
                <a:spcPts val="200"/>
              </a:spcAft>
              <a:defRPr sz="1000">
                <a:solidFill>
                  <a:srgbClr val="242220"/>
                </a:solidFill>
              </a:defRPr>
            </a:pPr>
            <a:r>
              <a:rPr sz="1300"/>
              <a:t>• Classification tags: Technical certifications, hackathons, academic degrees</a:t>
            </a:r>
            <a:endParaRPr sz="1300"/>
          </a:p>
          <a:p>
            <a:pPr>
              <a:spcAft>
                <a:spcPts val="200"/>
              </a:spcAft>
              <a:defRPr sz="1000">
                <a:solidFill>
                  <a:srgbClr val="242220"/>
                </a:solidFill>
              </a:defRPr>
            </a:pPr>
            <a:r>
              <a:rPr sz="1300"/>
              <a:t>• Full modal preview with high-resolution zooming and download capabilities</a:t>
            </a:r>
            <a:endParaRPr sz="1300"/>
          </a:p>
          <a:p>
            <a:pPr>
              <a:spcAft>
                <a:spcPts val="200"/>
              </a:spcAft>
              <a:defRPr sz="1000">
                <a:solidFill>
                  <a:srgbClr val="242220"/>
                </a:solidFill>
              </a:defRPr>
            </a:pPr>
            <a:endParaRPr sz="1300"/>
          </a:p>
        </p:txBody>
      </p:sp>
      <p:sp>
        <p:nvSpPr>
          <p:cNvPr id="12" name="Rounded Rectangle 11"/>
          <p:cNvSpPr/>
          <p:nvPr/>
        </p:nvSpPr>
        <p:spPr>
          <a:xfrm>
            <a:off x="731520" y="3840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77640"/>
            <a:ext cx="4892040" cy="1804670"/>
          </a:xfrm>
          <a:prstGeom prst="rect">
            <a:avLst/>
          </a:prstGeom>
          <a:noFill/>
        </p:spPr>
        <p:txBody>
          <a:bodyPr wrap="square">
            <a:spAutoFit/>
          </a:bodyPr>
          <a:lstStyle/>
          <a:p>
            <a:pPr>
              <a:spcAft>
                <a:spcPts val="600"/>
              </a:spcAft>
              <a:defRPr sz="1300" b="1">
                <a:solidFill>
                  <a:srgbClr val="111111"/>
                </a:solidFill>
              </a:defRPr>
            </a:pPr>
            <a:r>
              <a:t>Gmail Events Synchronization Engine</a:t>
            </a:r>
          </a:p>
          <a:p>
            <a:pPr>
              <a:spcAft>
                <a:spcPts val="200"/>
              </a:spcAft>
              <a:defRPr sz="1000">
                <a:solidFill>
                  <a:srgbClr val="242220"/>
                </a:solidFill>
              </a:defRPr>
            </a:pPr>
            <a:r>
              <a:rPr sz="1500"/>
              <a:t>• Google OAuth 2.0 Web Client authentication with university email scope</a:t>
            </a:r>
            <a:endParaRPr sz="1500"/>
          </a:p>
          <a:p>
            <a:pPr>
              <a:spcAft>
                <a:spcPts val="200"/>
              </a:spcAft>
              <a:defRPr sz="1000">
                <a:solidFill>
                  <a:srgbClr val="242220"/>
                </a:solidFill>
              </a:defRPr>
            </a:pPr>
            <a:r>
              <a:rPr sz="1500"/>
              <a:t>• Scans incoming student Gmail messages for institutional notices and seminars</a:t>
            </a:r>
            <a:endParaRPr sz="1500"/>
          </a:p>
          <a:p>
            <a:pPr>
              <a:spcAft>
                <a:spcPts val="200"/>
              </a:spcAft>
              <a:defRPr sz="1000">
                <a:solidFill>
                  <a:srgbClr val="242220"/>
                </a:solidFill>
              </a:defRPr>
            </a:pPr>
            <a:r>
              <a:rPr sz="1500"/>
              <a:t>• Extracts event dates, seminar venues, and deadlines into calendar cards</a:t>
            </a:r>
            <a:endParaRPr sz="1500"/>
          </a:p>
        </p:txBody>
      </p:sp>
      <p:sp>
        <p:nvSpPr>
          <p:cNvPr id="14" name="Rounded Rectangle 13"/>
          <p:cNvSpPr/>
          <p:nvPr/>
        </p:nvSpPr>
        <p:spPr>
          <a:xfrm>
            <a:off x="6172200" y="3840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977640"/>
            <a:ext cx="4892040" cy="1953260"/>
          </a:xfrm>
          <a:prstGeom prst="rect">
            <a:avLst/>
          </a:prstGeom>
          <a:noFill/>
        </p:spPr>
        <p:txBody>
          <a:bodyPr wrap="square">
            <a:spAutoFit/>
          </a:bodyPr>
          <a:lstStyle/>
          <a:p>
            <a:pPr>
              <a:spcAft>
                <a:spcPts val="600"/>
              </a:spcAft>
              <a:defRPr sz="1300" b="1">
                <a:solidFill>
                  <a:srgbClr val="111111"/>
                </a:solidFill>
              </a:defRPr>
            </a:pPr>
            <a:r>
              <a:t>Institutional Audit &amp; Security Guard</a:t>
            </a:r>
          </a:p>
          <a:p>
            <a:pPr>
              <a:spcAft>
                <a:spcPts val="200"/>
              </a:spcAft>
              <a:defRPr sz="1000">
                <a:solidFill>
                  <a:srgbClr val="242220"/>
                </a:solidFill>
              </a:defRPr>
            </a:pPr>
            <a:r>
              <a:rPr sz="1400"/>
              <a:t>• Strict tenant isolation ensuring student data cannot be accessed across orgs</a:t>
            </a:r>
            <a:endParaRPr sz="1400"/>
          </a:p>
          <a:p>
            <a:pPr>
              <a:spcAft>
                <a:spcPts val="200"/>
              </a:spcAft>
              <a:defRPr sz="1000">
                <a:solidFill>
                  <a:srgbClr val="242220"/>
                </a:solidFill>
              </a:defRPr>
            </a:pPr>
            <a:r>
              <a:rPr sz="1400"/>
              <a:t>• Firebase Admin service account integration for trusted server-side execution</a:t>
            </a:r>
            <a:endParaRPr sz="1400"/>
          </a:p>
          <a:p>
            <a:pPr>
              <a:spcAft>
                <a:spcPts val="200"/>
              </a:spcAft>
              <a:defRPr sz="1000">
                <a:solidFill>
                  <a:srgbClr val="242220"/>
                </a:solidFill>
              </a:defRPr>
            </a:pPr>
            <a:r>
              <a:rPr sz="1400"/>
              <a:t>• Credential token cleansing to eliminate OAuth redirect and newline errors</a:t>
            </a:r>
            <a:endParaRPr sz="1400"/>
          </a:p>
          <a:p>
            <a:pPr>
              <a:spcAft>
                <a:spcPts val="200"/>
              </a:spcAft>
              <a:defRPr sz="1000">
                <a:solidFill>
                  <a:srgbClr val="242220"/>
                </a:solidFill>
              </a:defRPr>
            </a:pP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tIns="0" rIns="0" bIns="0">
            <a:spAutoFit/>
          </a:bodyPr>
          <a:lstStyle/>
          <a:p>
            <a:pPr>
              <a:defRPr sz="1000" b="1">
                <a:solidFill>
                  <a:srgbClr val="111111"/>
                </a:solidFill>
              </a:defRPr>
            </a:pPr>
            <a:r>
              <a:t>STUDENT SUCCESS &amp; PRODUCTIVITY TOOLS</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111111"/>
                </a:solidFill>
              </a:defRPr>
            </a:pPr>
            <a:r>
              <a:t>Module 6: Placement Preparation &amp; Campus Navigation</a:t>
            </a:r>
          </a:p>
        </p:txBody>
      </p:sp>
      <p:sp>
        <p:nvSpPr>
          <p:cNvPr id="5" name="Rectangle 4"/>
          <p:cNvSpPr/>
          <p:nvPr/>
        </p:nvSpPr>
        <p:spPr>
          <a:xfrm>
            <a:off x="731520" y="6400800"/>
            <a:ext cx="10728655" cy="18288"/>
          </a:xfrm>
          <a:prstGeom prst="rect">
            <a:avLst/>
          </a:prstGeom>
          <a:solidFill>
            <a:srgbClr val="E5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35D56"/>
                </a:solidFill>
                <a:latin typeface="Segoe UI" panose="020B0502040204020203"/>
              </a:defRPr>
            </a:pPr>
            <a:r>
              <a:t>AcademicUniverse | Guide: Ms. Kamini, Co-Guide: Ms. Mekhala | Team: Kushagra, Aashish, Avdesh</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11111"/>
                </a:solidFill>
              </a:defRPr>
            </a:pPr>
            <a:r>
              <a:t>9 / 10</a:t>
            </a:r>
          </a:p>
        </p:txBody>
      </p:sp>
      <p:sp>
        <p:nvSpPr>
          <p:cNvPr id="8" name="Rounded Rectangle 7"/>
          <p:cNvSpPr/>
          <p:nvPr/>
        </p:nvSpPr>
        <p:spPr>
          <a:xfrm>
            <a:off x="731520" y="1554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1332230"/>
          </a:xfrm>
          <a:prstGeom prst="rect">
            <a:avLst/>
          </a:prstGeom>
          <a:noFill/>
        </p:spPr>
        <p:txBody>
          <a:bodyPr wrap="square">
            <a:spAutoFit/>
          </a:bodyPr>
          <a:lstStyle/>
          <a:p>
            <a:pPr>
              <a:spcAft>
                <a:spcPts val="800"/>
              </a:spcAft>
              <a:defRPr sz="1400" b="1">
                <a:solidFill>
                  <a:srgbClr val="111111"/>
                </a:solidFill>
              </a:defRPr>
            </a:pPr>
            <a:r>
              <a:t>💼  Career &amp; Verified Profile</a:t>
            </a:r>
          </a:p>
          <a:p>
            <a:pPr>
              <a:defRPr sz="1100">
                <a:solidFill>
                  <a:srgbClr val="242220"/>
                </a:solidFill>
              </a:defRPr>
            </a:pPr>
            <a:r>
              <a:rPr sz="1500"/>
              <a:t>A unified student showcase displaying verified certificates, academic semester milestones, and technical accomplishments directly accessible to faculty and recruiters.</a:t>
            </a:r>
            <a:endParaRPr sz="1500"/>
          </a:p>
        </p:txBody>
      </p:sp>
      <p:sp>
        <p:nvSpPr>
          <p:cNvPr id="10" name="Rounded Rectangle 9"/>
          <p:cNvSpPr/>
          <p:nvPr/>
        </p:nvSpPr>
        <p:spPr>
          <a:xfrm>
            <a:off x="6172200" y="1554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00600" cy="1101725"/>
          </a:xfrm>
          <a:prstGeom prst="rect">
            <a:avLst/>
          </a:prstGeom>
          <a:noFill/>
        </p:spPr>
        <p:txBody>
          <a:bodyPr wrap="square">
            <a:spAutoFit/>
          </a:bodyPr>
          <a:lstStyle/>
          <a:p>
            <a:pPr>
              <a:spcAft>
                <a:spcPts val="800"/>
              </a:spcAft>
              <a:defRPr sz="1400" b="1">
                <a:solidFill>
                  <a:srgbClr val="111111"/>
                </a:solidFill>
              </a:defRPr>
            </a:pPr>
            <a:r>
              <a:t>💻  Code Arena &amp; Problem Solving Ledger</a:t>
            </a:r>
          </a:p>
          <a:p>
            <a:pPr>
              <a:defRPr sz="1100">
                <a:solidFill>
                  <a:srgbClr val="242220"/>
                </a:solidFill>
              </a:defRPr>
            </a:pPr>
            <a:r>
              <a:rPr sz="1500"/>
              <a:t>Built-in engineering coding environment with problem tracking, bug bounty challenges, solution submission, and student competitive leaderboard.</a:t>
            </a:r>
            <a:endParaRPr sz="1500"/>
          </a:p>
        </p:txBody>
      </p:sp>
      <p:sp>
        <p:nvSpPr>
          <p:cNvPr id="12" name="Rounded Rectangle 11"/>
          <p:cNvSpPr/>
          <p:nvPr/>
        </p:nvSpPr>
        <p:spPr>
          <a:xfrm>
            <a:off x="731520" y="3840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023360"/>
            <a:ext cx="4800600" cy="1101725"/>
          </a:xfrm>
          <a:prstGeom prst="rect">
            <a:avLst/>
          </a:prstGeom>
          <a:noFill/>
        </p:spPr>
        <p:txBody>
          <a:bodyPr wrap="square">
            <a:spAutoFit/>
          </a:bodyPr>
          <a:lstStyle/>
          <a:p>
            <a:pPr>
              <a:spcAft>
                <a:spcPts val="800"/>
              </a:spcAft>
              <a:defRPr sz="1400" b="1">
                <a:solidFill>
                  <a:srgbClr val="111111"/>
                </a:solidFill>
              </a:defRPr>
            </a:pPr>
            <a:r>
              <a:t>🚪  Find Faculty Cabin Search Engine</a:t>
            </a:r>
          </a:p>
          <a:p>
            <a:pPr>
              <a:defRPr sz="1100">
                <a:solidFill>
                  <a:srgbClr val="242220"/>
                </a:solidFill>
              </a:defRPr>
            </a:pPr>
            <a:r>
              <a:rPr sz="1500"/>
              <a:t>Instant campus search bar in the top navigation allowing students to locate faculty cabin numbers, floor levels, and campus blocks (Block 1, Block 3, etc.) in seconds.</a:t>
            </a:r>
            <a:endParaRPr sz="1500"/>
          </a:p>
        </p:txBody>
      </p:sp>
      <p:sp>
        <p:nvSpPr>
          <p:cNvPr id="14" name="Rounded Rectangle 13"/>
          <p:cNvSpPr/>
          <p:nvPr/>
        </p:nvSpPr>
        <p:spPr>
          <a:xfrm>
            <a:off x="6172200" y="3840480"/>
            <a:ext cx="5257800" cy="210312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023360"/>
            <a:ext cx="4800600" cy="1332230"/>
          </a:xfrm>
          <a:prstGeom prst="rect">
            <a:avLst/>
          </a:prstGeom>
          <a:noFill/>
        </p:spPr>
        <p:txBody>
          <a:bodyPr wrap="square">
            <a:spAutoFit/>
          </a:bodyPr>
          <a:lstStyle/>
          <a:p>
            <a:pPr>
              <a:spcAft>
                <a:spcPts val="800"/>
              </a:spcAft>
              <a:defRPr sz="1400" b="1">
                <a:solidFill>
                  <a:srgbClr val="111111"/>
                </a:solidFill>
              </a:defRPr>
            </a:pPr>
            <a:r>
              <a:t>🧭  Streamlined Non-Redundant Navigation</a:t>
            </a:r>
          </a:p>
          <a:p>
            <a:pPr>
              <a:defRPr sz="1100">
                <a:solidFill>
                  <a:srgbClr val="242220"/>
                </a:solidFill>
              </a:defRPr>
            </a:pPr>
            <a:r>
              <a:rPr sz="1500"/>
              <a:t>Deduplicated user experience: Top Navbar hosts global modules (Growth Hub, Career Profile, AI Chatbot, Research Wing, Code Arena); Left Sidebar provides focused management.</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20040"/>
          </a:xfrm>
          <a:prstGeom prst="rect">
            <a:avLst/>
          </a:prstGeom>
          <a:noFill/>
        </p:spPr>
        <p:txBody>
          <a:bodyPr wrap="square" lIns="0" tIns="0" rIns="0" bIns="0">
            <a:spAutoFit/>
          </a:bodyPr>
          <a:lstStyle/>
          <a:p>
            <a:pPr>
              <a:defRPr sz="1000" b="1">
                <a:solidFill>
                  <a:srgbClr val="111111"/>
                </a:solidFill>
              </a:defRPr>
            </a:pPr>
            <a:r>
              <a:t>EVALUATION SUMMARY &amp; NEXT MILESTONES</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400" b="1">
                <a:solidFill>
                  <a:srgbClr val="111111"/>
                </a:solidFill>
              </a:defRPr>
            </a:pPr>
            <a:r>
              <a:t>Live Production Status, Achievements &amp; Future Roadmap</a:t>
            </a:r>
          </a:p>
        </p:txBody>
      </p:sp>
      <p:sp>
        <p:nvSpPr>
          <p:cNvPr id="5" name="Rectangle 4"/>
          <p:cNvSpPr/>
          <p:nvPr/>
        </p:nvSpPr>
        <p:spPr>
          <a:xfrm>
            <a:off x="731520" y="6400800"/>
            <a:ext cx="10728655" cy="18288"/>
          </a:xfrm>
          <a:prstGeom prst="rect">
            <a:avLst/>
          </a:prstGeom>
          <a:solidFill>
            <a:srgbClr val="E5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8229600" cy="320040"/>
          </a:xfrm>
          <a:prstGeom prst="rect">
            <a:avLst/>
          </a:prstGeom>
          <a:noFill/>
        </p:spPr>
        <p:txBody>
          <a:bodyPr wrap="none">
            <a:spAutoFit/>
          </a:bodyPr>
          <a:lstStyle/>
          <a:p>
            <a:pPr>
              <a:defRPr sz="850">
                <a:solidFill>
                  <a:srgbClr val="635D56"/>
                </a:solidFill>
                <a:latin typeface="Segoe UI" panose="020B0502040204020203"/>
              </a:defRPr>
            </a:pPr>
            <a:r>
              <a:t>AcademicUniverse | Guide: Ms. Kamini, Co-Guide: Ms. Mekhala | Team: Kushagra, Aashish, Avdesh</a:t>
            </a:r>
          </a:p>
        </p:txBody>
      </p:sp>
      <p:sp>
        <p:nvSpPr>
          <p:cNvPr id="7" name="TextBox 6"/>
          <p:cNvSpPr txBox="1"/>
          <p:nvPr/>
        </p:nvSpPr>
        <p:spPr>
          <a:xfrm>
            <a:off x="10515600" y="6446520"/>
            <a:ext cx="914400" cy="320040"/>
          </a:xfrm>
          <a:prstGeom prst="rect">
            <a:avLst/>
          </a:prstGeom>
          <a:noFill/>
        </p:spPr>
        <p:txBody>
          <a:bodyPr wrap="none">
            <a:spAutoFit/>
          </a:bodyPr>
          <a:lstStyle/>
          <a:p>
            <a:pPr algn="r">
              <a:defRPr sz="950" b="1">
                <a:solidFill>
                  <a:srgbClr val="111111"/>
                </a:solidFill>
              </a:defRPr>
            </a:pPr>
            <a:r>
              <a:t>10 / 10</a:t>
            </a:r>
          </a:p>
        </p:txBody>
      </p:sp>
      <p:sp>
        <p:nvSpPr>
          <p:cNvPr id="8" name="Rounded Rectangle 7"/>
          <p:cNvSpPr/>
          <p:nvPr/>
        </p:nvSpPr>
        <p:spPr>
          <a:xfrm>
            <a:off x="731520" y="1554480"/>
            <a:ext cx="5257800" cy="4572000"/>
          </a:xfrm>
          <a:prstGeom prst="roundRect">
            <a:avLst/>
          </a:prstGeom>
          <a:solidFill>
            <a:srgbClr val="F7F3EB"/>
          </a:solidFill>
          <a:ln w="15240">
            <a:solidFill>
              <a:srgbClr val="DFD7C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37360"/>
            <a:ext cx="4800600" cy="4218305"/>
          </a:xfrm>
          <a:prstGeom prst="rect">
            <a:avLst/>
          </a:prstGeom>
          <a:noFill/>
        </p:spPr>
        <p:txBody>
          <a:bodyPr wrap="square">
            <a:spAutoFit/>
          </a:bodyPr>
          <a:lstStyle/>
          <a:p>
            <a:pPr>
              <a:spcAft>
                <a:spcPts val="1000"/>
              </a:spcAft>
              <a:defRPr sz="1500" b="1">
                <a:solidFill>
                  <a:srgbClr val="111111"/>
                </a:solidFill>
              </a:defRPr>
            </a:pPr>
            <a:r>
              <a:t>Genuinely Completed &amp; Live Today</a:t>
            </a:r>
          </a:p>
          <a:p>
            <a:pPr>
              <a:spcAft>
                <a:spcPts val="500"/>
              </a:spcAft>
              <a:defRPr sz="1000" b="1">
                <a:solidFill>
                  <a:srgbClr val="242220"/>
                </a:solidFill>
              </a:defRPr>
            </a:pPr>
            <a:r>
              <a:rPr sz="1400"/>
              <a:t>✔ Vercel Production Deployment: </a:t>
            </a:r>
            <a:r>
              <a:rPr sz="1400" b="0">
                <a:solidFill>
                  <a:srgbClr val="635D56"/>
                </a:solidFill>
              </a:rPr>
              <a:t>Live at 'https://academicuniverse.vercel.app' with 50 static &amp; dynamic routes compiled cleanly via Turbopack.</a:t>
            </a:r>
            <a:endParaRPr sz="1400" b="0">
              <a:solidFill>
                <a:srgbClr val="635D56"/>
              </a:solidFill>
            </a:endParaRPr>
          </a:p>
          <a:p>
            <a:pPr>
              <a:spcAft>
                <a:spcPts val="500"/>
              </a:spcAft>
              <a:defRPr sz="1000" b="1">
                <a:solidFill>
                  <a:srgbClr val="242220"/>
                </a:solidFill>
              </a:defRPr>
            </a:pPr>
            <a:r>
              <a:rPr sz="1400"/>
              <a:t>✔ Railway Backend Microservices: </a:t>
            </a:r>
            <a:r>
              <a:rPr sz="1400" b="0">
                <a:solidFill>
                  <a:srgbClr val="635D56"/>
                </a:solidFill>
              </a:rPr>
              <a:t>Containerized Express TypeScript backend with verified MongoDB Atlas &amp; Firebase Admin connectivity.</a:t>
            </a:r>
            <a:endParaRPr sz="1400" b="0">
              <a:solidFill>
                <a:srgbClr val="635D56"/>
              </a:solidFill>
            </a:endParaRPr>
          </a:p>
          <a:p>
            <a:pPr>
              <a:spcAft>
                <a:spcPts val="500"/>
              </a:spcAft>
              <a:defRPr sz="1000" b="1">
                <a:solidFill>
                  <a:srgbClr val="242220"/>
                </a:solidFill>
              </a:defRPr>
            </a:pPr>
            <a:r>
              <a:rPr sz="1400"/>
              <a:t>✔ Authorized E-Zone Sync: </a:t>
            </a:r>
            <a:r>
              <a:rPr sz="1400" b="0">
                <a:solidFill>
                  <a:srgbClr val="635D56"/>
                </a:solidFill>
              </a:rPr>
              <a:t>Real Playwright automation syncing timetables, courses, and attendance via 2FA student email verification.</a:t>
            </a:r>
            <a:endParaRPr sz="1400" b="0">
              <a:solidFill>
                <a:srgbClr val="635D56"/>
              </a:solidFill>
            </a:endParaRPr>
          </a:p>
          <a:p>
            <a:pPr>
              <a:spcAft>
                <a:spcPts val="500"/>
              </a:spcAft>
              <a:defRPr sz="1000" b="1">
                <a:solidFill>
                  <a:srgbClr val="242220"/>
                </a:solidFill>
              </a:defRPr>
            </a:pPr>
            <a:r>
              <a:rPr sz="1400"/>
              <a:t>✔ Contextual Gemini Chatbot: </a:t>
            </a:r>
            <a:r>
              <a:rPr sz="1400" b="0">
                <a:solidFill>
                  <a:srgbClr val="635D56"/>
                </a:solidFill>
              </a:rPr>
              <a:t>Inference live with classroom locations (Room 206 Block 3) and teacher names injected from database.</a:t>
            </a:r>
            <a:endParaRPr sz="1400" b="0">
              <a:solidFill>
                <a:srgbClr val="635D56"/>
              </a:solidFill>
            </a:endParaRPr>
          </a:p>
          <a:p>
            <a:pPr>
              <a:spcAft>
                <a:spcPts val="500"/>
              </a:spcAft>
              <a:defRPr sz="1000" b="1">
                <a:solidFill>
                  <a:srgbClr val="242220"/>
                </a:solidFill>
              </a:defRPr>
            </a:pPr>
            <a:r>
              <a:rPr sz="1400"/>
              <a:t>✔ Functional Overlap Planner: </a:t>
            </a:r>
            <a:r>
              <a:rPr sz="1400" b="0">
                <a:solidFill>
                  <a:srgbClr val="635D56"/>
                </a:solidFill>
              </a:rPr>
              <a:t>Full N-way schedule intersection live with genuine student names and System IDs.</a:t>
            </a:r>
            <a:endParaRPr sz="1400" b="0">
              <a:solidFill>
                <a:srgbClr val="635D56"/>
              </a:solidFill>
            </a:endParaRPr>
          </a:p>
          <a:p>
            <a:pPr>
              <a:spcAft>
                <a:spcPts val="500"/>
              </a:spcAft>
              <a:defRPr sz="1000" b="1">
                <a:solidFill>
                  <a:srgbClr val="242220"/>
                </a:solidFill>
              </a:defRPr>
            </a:pPr>
            <a:r>
              <a:rPr sz="1400"/>
              <a:t>✔ Zero-Mock Production Data: </a:t>
            </a:r>
            <a:r>
              <a:rPr sz="1400" b="0">
                <a:solidFill>
                  <a:srgbClr val="635D56"/>
                </a:solidFill>
              </a:rPr>
              <a:t>57+ verified academic records, 2 live timetables, and real authenticated student users.</a:t>
            </a:r>
            <a:endParaRPr sz="1400" b="0">
              <a:solidFill>
                <a:srgbClr val="635D56"/>
              </a:solidFill>
            </a:endParaRPr>
          </a:p>
        </p:txBody>
      </p:sp>
      <p:sp>
        <p:nvSpPr>
          <p:cNvPr id="10" name="Rounded Rectangle 9"/>
          <p:cNvSpPr/>
          <p:nvPr/>
        </p:nvSpPr>
        <p:spPr>
          <a:xfrm>
            <a:off x="6172200" y="1554480"/>
            <a:ext cx="5287975" cy="4572000"/>
          </a:xfrm>
          <a:prstGeom prst="roundRect">
            <a:avLst/>
          </a:prstGeom>
          <a:solidFill>
            <a:srgbClr val="141414"/>
          </a:solidFill>
          <a:ln w="1524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37360"/>
            <a:ext cx="4846320" cy="3066415"/>
          </a:xfrm>
          <a:prstGeom prst="rect">
            <a:avLst/>
          </a:prstGeom>
          <a:noFill/>
        </p:spPr>
        <p:txBody>
          <a:bodyPr wrap="square">
            <a:spAutoFit/>
          </a:bodyPr>
          <a:lstStyle/>
          <a:p>
            <a:pPr>
              <a:spcAft>
                <a:spcPts val="1000"/>
              </a:spcAft>
              <a:defRPr sz="1500" b="1">
                <a:solidFill>
                  <a:srgbClr val="F7F3EB"/>
                </a:solidFill>
              </a:defRPr>
            </a:pPr>
            <a:r>
              <a:t>Upcoming Engineering Roadmap</a:t>
            </a:r>
          </a:p>
          <a:p>
            <a:pPr>
              <a:spcAft>
                <a:spcPts val="600"/>
              </a:spcAft>
              <a:defRPr sz="1000" b="1">
                <a:solidFill>
                  <a:srgbClr val="FFFFFF"/>
                </a:solidFill>
              </a:defRPr>
            </a:pPr>
            <a:r>
              <a:t>➔</a:t>
            </a:r>
            <a:r>
              <a:rPr sz="1400"/>
              <a:t> Mobile Progressive Web App (PWA): </a:t>
            </a:r>
            <a:r>
              <a:rPr sz="1400" b="0">
                <a:solidFill>
                  <a:srgbClr val="E0DAD0"/>
                </a:solidFill>
              </a:rPr>
              <a:t>Offline timetable caching and fast home-screen launch on mobile devices.</a:t>
            </a:r>
            <a:endParaRPr sz="1400" b="0">
              <a:solidFill>
                <a:srgbClr val="E0DAD0"/>
              </a:solidFill>
            </a:endParaRPr>
          </a:p>
          <a:p>
            <a:pPr>
              <a:spcAft>
                <a:spcPts val="600"/>
              </a:spcAft>
              <a:defRPr sz="1000" b="1">
                <a:solidFill>
                  <a:srgbClr val="FFFFFF"/>
                </a:solidFill>
              </a:defRPr>
            </a:pPr>
            <a:r>
              <a:rPr sz="1400"/>
              <a:t>➔ Real-Time Push Notifications: </a:t>
            </a:r>
            <a:r>
              <a:rPr sz="1400" b="0">
                <a:solidFill>
                  <a:srgbClr val="E0DAD0"/>
                </a:solidFill>
              </a:rPr>
              <a:t>Instant WebPush alerts for classroom room-swaps and cancelled lecture periods.</a:t>
            </a:r>
            <a:endParaRPr sz="1400" b="0">
              <a:solidFill>
                <a:srgbClr val="E0DAD0"/>
              </a:solidFill>
            </a:endParaRPr>
          </a:p>
          <a:p>
            <a:pPr>
              <a:spcAft>
                <a:spcPts val="600"/>
              </a:spcAft>
              <a:defRPr sz="1000" b="1">
                <a:solidFill>
                  <a:srgbClr val="FFFFFF"/>
                </a:solidFill>
              </a:defRPr>
            </a:pPr>
            <a:r>
              <a:rPr sz="1400"/>
              <a:t>➔ Automated Peer Review &amp; Benchmarking: </a:t>
            </a:r>
            <a:r>
              <a:rPr sz="1400" b="0">
                <a:solidFill>
                  <a:srgbClr val="E0DAD0"/>
                </a:solidFill>
              </a:rPr>
              <a:t>Integration with AU DIC benchmark pipeline for evaluating AI academic papers.</a:t>
            </a:r>
            <a:endParaRPr sz="1400" b="0">
              <a:solidFill>
                <a:srgbClr val="E0DAD0"/>
              </a:solidFill>
            </a:endParaRPr>
          </a:p>
          <a:p>
            <a:pPr>
              <a:spcAft>
                <a:spcPts val="600"/>
              </a:spcAft>
              <a:defRPr sz="1000" b="1">
                <a:solidFill>
                  <a:srgbClr val="FFFFFF"/>
                </a:solidFill>
              </a:defRPr>
            </a:pPr>
            <a:r>
              <a:rPr sz="1400"/>
              <a:t>➔ Multi-University Tenant Expansion: </a:t>
            </a:r>
            <a:r>
              <a:rPr sz="1400" b="0">
                <a:solidFill>
                  <a:srgbClr val="E0DAD0"/>
                </a:solidFill>
              </a:rPr>
              <a:t>Expanding tenant isolation to support affiliated institutions beyond Sharda University.</a:t>
            </a:r>
            <a:endParaRPr sz="1400" b="0">
              <a:solidFill>
                <a:srgbClr val="E0DAD0"/>
              </a:solidFill>
            </a:endParaRPr>
          </a:p>
          <a:p>
            <a:pPr>
              <a:spcBef>
                <a:spcPts val="1200"/>
              </a:spcBef>
              <a:defRPr sz="1100" b="1">
                <a:solidFill>
                  <a:srgbClr val="F7F3EB"/>
                </a:solidFill>
              </a:defRPr>
            </a:pPr>
            <a:r>
              <a:rPr sz="1400"/>
              <a:t>THANK YOU!</a:t>
            </a:r>
            <a:endParaRPr sz="1400"/>
          </a:p>
        </p:txBody>
      </p:sp>
    </p:spTree>
  </p:cSld>
  <p:clrMapOvr>
    <a:masterClrMapping/>
  </p:clrMapOvr>
</p:sld>
</file>

<file path=ppt/theme/theme1.xml><?xml version="1.0" encoding="utf-8"?>
<a:theme xmlns:a="http://schemas.openxmlformats.org/drawingml/2006/main" name="Office Theme">
  <a:themeElements>
    <a:clrScheme name="White Cream Black">
      <a:dk1>
        <a:sysClr val="windowText" lastClr="000000"/>
      </a:dk1>
      <a:lt1>
        <a:sysClr val="window" lastClr="FFFFFF"/>
      </a:lt1>
      <a:dk2>
        <a:srgbClr val="242220"/>
      </a:dk2>
      <a:lt2>
        <a:srgbClr val="F7F3EB"/>
      </a:lt2>
      <a:accent1>
        <a:srgbClr val="111111"/>
      </a:accent1>
      <a:accent2>
        <a:srgbClr val="D8CEBD"/>
      </a:accent2>
      <a:accent3>
        <a:srgbClr val="5A5550"/>
      </a:accent3>
      <a:accent4>
        <a:srgbClr val="EDE4D4"/>
      </a:accent4>
      <a:accent5>
        <a:srgbClr val="2D2A26"/>
      </a:accent5>
      <a:accent6>
        <a:srgbClr val="FAF6F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13072</Words>
  <Application>WPS Presentation</Application>
  <PresentationFormat>On-screen Show (4:3)</PresentationFormat>
  <Paragraphs>267</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Arial</vt:lpstr>
      <vt:lpstr>Segoe UI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Aashish Rajput</cp:lastModifiedBy>
  <cp:revision>2</cp:revision>
  <dcterms:created xsi:type="dcterms:W3CDTF">2013-01-27T09:14:00Z</dcterms:created>
  <dcterms:modified xsi:type="dcterms:W3CDTF">2026-09-09T09:20:29Z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2B1090184CC64C3F913A3FB832113EF6_12</vt:lpwstr>
  </property>
</Properties>
</file>