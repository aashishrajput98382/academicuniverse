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Rectangle 2"/>
          <ns0:cNvSpPr/>
          <ns0:nvPr/>
        </ns0:nvSpPr>
        <ns0:spPr>
          <ns1:xfrm>
            <ns1:off x="0" y="0"/>
            <ns1:ext cx="12191695" cy="109728"/>
          </ns1:xfrm>
          <ns1:prstGeom prst="rect">
            <ns1:avLst/>
          </ns1:prstGeom>
          <ns1:solidFill>
            <ns1:srgbClr val="111111"/>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4" name="Rounded Rectangle 3"/>
          <ns0:cNvSpPr/>
          <ns0:nvPr/>
        </ns0:nvSpPr>
        <ns0:spPr>
          <ns1:xfrm>
            <ns1:off x="508000" y="317500"/>
            <ns1:ext cx="11176000" cy="6223000"/>
          </ns1:xfrm>
          <ns1:prstGeom prst="roundRect">
            <ns1:avLst/>
          </ns1:prstGeom>
          <ns1:solidFill>
            <ns1:srgbClr val="F7F3EB"/>
          </ns1:solidFill>
          <ns1:ln w="1270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5" name="Rounded Rectangle 4"/>
          <ns0:cNvSpPr/>
          <ns0:nvPr/>
        </ns0:nvSpPr>
        <ns0:spPr>
          <ns1:xfrm>
            <ns1:off x="825500" y="533400"/>
            <ns1:ext cx="2921000" cy="304800"/>
          </ns1:xfrm>
          <ns1:prstGeom prst="roundRect">
            <ns1:avLst/>
          </ns1:prstGeom>
          <ns1:solidFill>
            <ns1:srgbClr val="111111"/>
          </ns1:solidFill>
          <ns1:ln w="12700">
            <ns1:solidFill>
              <ns1:srgbClr val="111111"/>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wrap="none" lIns="101600" rIns="101600" tIns="25400" bIns="25400"/>
          <ns1:lstStyle/>
          <ns1:p>
            <ns1:pPr algn="ctr">
              <ns1:defRPr sz="900" b="1">
                <ns1:solidFill>
                  <ns1:srgbClr val="F7F3EB"/>
                </ns1:solidFill>
              </ns1:defRPr>
            </ns1:pPr>
            <ns1:r>
              <ns1:t>LIVE PRODUCTION PLATFORM • 2026</ns1:t>
            </ns1:r>
          </ns1:p>
        </ns0:txBody>
      </ns0:sp>
      <ns0:sp>
        <ns0:nvSpPr>
          <ns0:cNvPr id="6" name="TextBox 5"/>
          <ns0:cNvSpPr txBox="1"/>
          <ns0:nvPr/>
        </ns0:nvSpPr>
        <ns0:spPr>
          <ns1:xfrm>
            <ns1:off x="825500" y="914400"/>
            <ns1:ext cx="10541000" cy="990600"/>
          </ns1:xfrm>
          <ns1:prstGeom prst="rect">
            <ns1:avLst/>
          </ns1:prstGeom>
          <ns1:noFill/>
        </ns0:spPr>
        <ns0:txBody>
          <ns1:bodyPr wrap="square" lIns="0" rIns="0" tIns="0" bIns="0">
            <ns1:spAutoFit/>
          </ns1:bodyPr>
          <ns1:lstStyle/>
          <ns1:p>
            <ns1:pPr>
              <ns1:spcAft>
                <ns1:spcPts val="200"/>
              </ns1:spcAft>
              <ns1:defRPr sz="2800" b="1">
                <ns1:solidFill>
                  <ns1:srgbClr val="111111"/>
                </ns1:solidFill>
              </ns1:defRPr>
            </ns1:pPr>
            <ns1:r>
              <ns1:t>AcademicUniverse</ns1:t>
            </ns1:r>
          </ns1:p>
          <ns1:p>
            <ns1:pPr>
              <ns1:spcAft>
                <ns1:spcPts val="200"/>
              </ns1:spcAft>
              <ns1:defRPr sz="1300" b="1">
                <ns1:solidFill>
                  <ns1:srgbClr val="242220"/>
                </ns1:solidFill>
              </ns1:defRPr>
            </ns1:pPr>
            <ns1:r>
              <ns1:t>An AI Powered Educational Ecosystem for Student Growth and Academic Performance Analysis</ns1:t>
            </ns1:r>
          </ns1:p>
          <ns1:p>
            <ns1:pPr>
              <ns1:defRPr sz="1000" b="0">
                <ns1:solidFill>
                  <ns1:srgbClr val="635D56"/>
                </ns1:solidFill>
              </ns1:defRPr>
            </ns1:pPr>
            <ns1:r>
              <ns1:t>Department of Computer Science &amp; Engineering • Sharda University</ns1:t>
            </ns1:r>
          </ns1:p>
        </ns0:txBody>
      </ns0:sp>
      <ns0:sp>
        <ns0:nvSpPr>
          <ns0:cNvPr id="7" name="Rounded Rectangle 6"/>
          <ns0:cNvSpPr/>
          <ns0:nvPr/>
        </ns0:nvSpPr>
        <ns0:spPr>
          <ns1:xfrm>
            <ns1:off x="825500" y="2095500"/>
            <ns1:ext cx="3175000" cy="4216400"/>
          </ns1:xfrm>
          <ns1:prstGeom prst="roundRect">
            <ns1:avLst/>
          </ns1:prstGeom>
          <ns1:solidFill>
            <ns1:srgbClr val="FFFFFF"/>
          </ns1:solidFill>
          <ns1:ln w="1270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wrap="square" lIns="152400" rIns="152400" tIns="152400" bIns="127000"/>
          <ns1:lstStyle/>
          <ns1:p>
            <ns1:pPr algn="ctr">
              <ns1:spcAft>
                <ns1:spcPts val="200"/>
              </ns1:spcAft>
              <ns1:defRPr sz="850" b="1">
                <ns1:solidFill>
                  <ns1:srgbClr val="111111"/>
                </ns1:solidFill>
              </ns1:defRPr>
            </ns1:pPr>
            <ns1:r>
              <ns1:t>RESOURCE COORDINATOR</ns1:t>
            </ns1:r>
          </ns1:p>
          <ns1:p>
            <ns1:pPr>
              <ns1:spcAft>
                <ns1:spcPts val="400"/>
              </ns1:spcAft>
              <ns1:defRPr sz="1250" b="1">
                <ns1:solidFill>
                  <ns1:srgbClr val="111111"/>
                </ns1:solidFill>
              </ns1:defRPr>
            </ns1:pPr>
            <ns1:r>
              <ns1:t>Kushagra Singh Bhadauria</ns1:t>
            </ns1:r>
          </ns1:p>
          <ns1:p>
            <ns1:pPr>
              <ns1:spcAft>
                <ns1:spcPts val="200"/>
              </ns1:spcAft>
              <ns1:defRPr sz="850" b="0">
                <ns1:solidFill>
                  <ns1:srgbClr val="242220"/>
                </ns1:solidFill>
              </ns1:defRPr>
            </ns1:pPr>
            <ns1:r>
              <ns1:t>System ID: 2023361009  •  Roll: 2301010463</ns1:t>
            </ns1:r>
          </ns1:p>
          <ns1:p>
            <ns1:pPr>
              <ns1:spcAft>
                <ns1:spcPts val="100"/>
              </ns1:spcAft>
              <ns1:defRPr sz="750" b="0">
                <ns1:solidFill>
                  <ns1:srgbClr val="635D56"/>
                </ns1:solidFill>
              </ns1:defRPr>
            </ns1:pPr>
            <ns1:r>
              <ns1:t>✉  2023361009.kushagra@ug.sharda.ac.in</ns1:t>
            </ns1:r>
          </ns1:p>
          <ns1:p>
            <ns1:pPr>
              <ns1:spcAft>
                <ns1:spcPts val="600"/>
              </ns1:spcAft>
              <ns1:defRPr sz="850" b="0">
                <ns1:solidFill>
                  <ns1:srgbClr val="635D56"/>
                </ns1:solidFill>
              </ns1:defRPr>
            </ns1:pPr>
            <ns1:r>
              <ns1:t>✆  +91 6395248403</ns1:t>
            </ns1:r>
          </ns1:p>
          <ns1:p>
            <ns1:pPr>
              <ns1:spcAft>
                <ns1:spcPts val="300"/>
              </ns1:spcAft>
              <ns1:defRPr sz="800" b="1">
                <ns1:solidFill>
                  <ns1:srgbClr val="111111"/>
                </ns1:solidFill>
              </ns1:defRPr>
            </ns1:pPr>
            <ns1:r>
              <ns1:t>CORE RESPONSIBILITIES</ns1:t>
            </ns1:r>
          </ns1:p>
          <ns1:p>
            <ns1:pPr>
              <ns1:spcAft>
                <ns1:spcPts val="200"/>
              </ns1:spcAft>
              <ns1:defRPr sz="800" b="0">
                <ns1:solidFill>
                  <ns1:srgbClr val="242220"/>
                </ns1:solidFill>
              </ns1:defRPr>
            </ns1:pPr>
            <ns1:r>
              <ns1:t>•  Resource Gathering &amp; Operational Support</ns1:t>
            </ns1:r>
          </ns1:p>
          <ns1:p>
            <ns1:pPr>
              <ns1:spcAft>
                <ns1:spcPts val="200"/>
              </ns1:spcAft>
              <ns1:defRPr sz="800" b="0">
                <ns1:solidFill>
                  <ns1:srgbClr val="242220"/>
                </ns1:solidFill>
              </ns1:defRPr>
            </ns1:pPr>
            <ns1:r>
              <ns1:t>•  Collecting Datasets, PDFs &amp; Timetables</ns1:t>
            </ns1:r>
          </ns1:p>
          <ns1:p>
            <ns1:pPr>
              <ns1:spcAft>
                <ns1:spcPts val="200"/>
              </ns1:spcAft>
              <ns1:defRPr sz="800" b="0">
                <ns1:solidFill>
                  <ns1:srgbClr val="242220"/>
                </ns1:solidFill>
              </ns1:defRPr>
            </ns1:pPr>
            <ns1:r>
              <ns1:t>•  Gathering Technical References &amp; Docs</ns1:t>
            </ns1:r>
          </ns1:p>
          <ns1:p>
            <ns1:pPr>
              <ns1:spcAft>
                <ns1:spcPts val="200"/>
              </ns1:spcAft>
              <ns1:defRPr sz="800" b="0">
                <ns1:solidFill>
                  <ns1:srgbClr val="242220"/>
                </ns1:solidFill>
              </ns1:defRPr>
            </ns1:pPr>
            <ns1:r>
              <ns1:t>•  Assisting in Module Integration Tasks</ns1:t>
            </ns1:r>
          </ns1:p>
          <ns1:p>
            <ns1:pPr>
              <ns1:spcAft>
                <ns1:spcPts val="200"/>
              </ns1:spcAft>
              <ns1:defRPr sz="800" b="0">
                <ns1:solidFill>
                  <ns1:srgbClr val="242220"/>
                </ns1:solidFill>
              </ns1:defRPr>
            </ns1:pPr>
            <ns1:r>
              <ns1:t>•  Operational Backbone for Smooth Execution</ns1:t>
            </ns1:r>
          </ns1:p>
        </ns0:txBody>
      </ns0:sp>
      <ns0:sp>
        <ns0:nvSpPr>
          <ns0:cNvPr id="8" name="Rounded Rectangle 7"/>
          <ns0:cNvSpPr/>
          <ns0:nvPr/>
        </ns0:nvSpPr>
        <ns0:spPr>
          <ns1:xfrm>
            <ns1:off x="4508500" y="2095500"/>
            <ns1:ext cx="3175000" cy="4216400"/>
          </ns1:xfrm>
          <ns1:prstGeom prst="roundRect">
            <ns1:avLst/>
          </ns1:prstGeom>
          <ns1:solidFill>
            <ns1:srgbClr val="FFFFFF"/>
          </ns1:solidFill>
          <ns1:ln w="1270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wrap="square" lIns="152400" rIns="152400" tIns="152400" bIns="127000"/>
          <ns1:lstStyle/>
          <ns1:p>
            <ns1:pPr algn="ctr">
              <ns1:spcAft>
                <ns1:spcPts val="200"/>
              </ns1:spcAft>
              <ns1:defRPr sz="850" b="1">
                <ns1:solidFill>
                  <ns1:srgbClr val="111111"/>
                </ns1:solidFill>
              </ns1:defRPr>
            </ns1:pPr>
            <ns1:r>
              <ns1:t>SYSTEM ARCHITECT &amp; DEV LEAD</ns1:t>
            </ns1:r>
          </ns1:p>
          <ns1:p>
            <ns1:pPr>
              <ns1:spcAft>
                <ns1:spcPts val="400"/>
              </ns1:spcAft>
              <ns1:defRPr sz="1250" b="1">
                <ns1:solidFill>
                  <ns1:srgbClr val="111111"/>
                </ns1:solidFill>
              </ns1:defRPr>
            </ns1:pPr>
            <ns1:r>
              <ns1:t>Aashish Rajput</ns1:t>
            </ns1:r>
          </ns1:p>
          <ns1:p>
            <ns1:pPr>
              <ns1:spcAft>
                <ns1:spcPts val="200"/>
              </ns1:spcAft>
              <ns1:defRPr sz="850" b="0">
                <ns1:solidFill>
                  <ns1:srgbClr val="242220"/>
                </ns1:solidFill>
              </ns1:defRPr>
            </ns1:pPr>
            <ns1:r>
              <ns1:t>System ID: 2023329421  •  Roll: 2301010007</ns1:t>
            </ns1:r>
          </ns1:p>
          <ns1:p>
            <ns1:pPr>
              <ns1:spcAft>
                <ns1:spcPts val="100"/>
              </ns1:spcAft>
              <ns1:defRPr sz="750" b="0">
                <ns1:solidFill>
                  <ns1:srgbClr val="635D56"/>
                </ns1:solidFill>
              </ns1:defRPr>
            </ns1:pPr>
            <ns1:r>
              <ns1:t>✉  2023329421.aashish@ug.sharda.ac.in</ns1:t>
            </ns1:r>
          </ns1:p>
          <ns1:p>
            <ns1:pPr>
              <ns1:spcAft>
                <ns1:spcPts val="600"/>
              </ns1:spcAft>
              <ns1:defRPr sz="850" b="0">
                <ns1:solidFill>
                  <ns1:srgbClr val="635D56"/>
                </ns1:solidFill>
              </ns1:defRPr>
            </ns1:pPr>
            <ns1:r>
              <ns1:t>✆  +91 9319977285</ns1:t>
            </ns1:r>
          </ns1:p>
          <ns1:p>
            <ns1:pPr>
              <ns1:spcAft>
                <ns1:spcPts val="300"/>
              </ns1:spcAft>
              <ns1:defRPr sz="800" b="1">
                <ns1:solidFill>
                  <ns1:srgbClr val="111111"/>
                </ns1:solidFill>
              </ns1:defRPr>
            </ns1:pPr>
            <ns1:r>
              <ns1:t>CORE RESPONSIBILITIES</ns1:t>
            </ns1:r>
          </ns1:p>
          <ns1:p>
            <ns1:pPr>
              <ns1:spcAft>
                <ns1:spcPts val="200"/>
              </ns1:spcAft>
              <ns1:defRPr sz="800" b="0">
                <ns1:solidFill>
                  <ns1:srgbClr val="242220"/>
                </ns1:solidFill>
              </ns1:defRPr>
            </ns1:pPr>
            <ns1:r>
              <ns1:t>•  Next.js 16 App Router &amp; Full-Stack Arch</ns1:t>
            </ns1:r>
          </ns1:p>
          <ns1:p>
            <ns1:pPr>
              <ns1:spcAft>
                <ns1:spcPts val="200"/>
              </ns1:spcAft>
              <ns1:defRPr sz="800" b="0">
                <ns1:solidFill>
                  <ns1:srgbClr val="242220"/>
                </ns1:solidFill>
              </ns1:defRPr>
            </ns1:pPr>
            <ns1:r>
              <ns1:t>•  Modular Express Microservices &amp; MongoDB</ns1:t>
            </ns1:r>
          </ns1:p>
          <ns1:p>
            <ns1:pPr>
              <ns1:spcAft>
                <ns1:spcPts val="200"/>
              </ns1:spcAft>
              <ns1:defRPr sz="800" b="0">
                <ns1:solidFill>
                  <ns1:srgbClr val="242220"/>
                </ns1:solidFill>
              </ns1:defRPr>
            </ns1:pPr>
            <ns1:r>
              <ns1:t>•  Playwright E-Zone Timetable Sync Engine</ns1:t>
            </ns1:r>
          </ns1:p>
          <ns1:p>
            <ns1:pPr>
              <ns1:spcAft>
                <ns1:spcPts val="200"/>
              </ns1:spcAft>
              <ns1:defRPr sz="800" b="0">
                <ns1:solidFill>
                  <ns1:srgbClr val="242220"/>
                </ns1:solidFill>
              </ns1:defRPr>
            </ns1:pPr>
            <ns1:r>
              <ns1:t>•  Context-Injected Gemini 2.5 Campus Chatbot</ns1:t>
            </ns1:r>
          </ns1:p>
          <ns1:p>
            <ns1:pPr>
              <ns1:spcAft>
                <ns1:spcPts val="200"/>
              </ns1:spcAft>
              <ns1:defRPr sz="800" b="0">
                <ns1:solidFill>
                  <ns1:srgbClr val="242220"/>
                </ns1:solidFill>
              </ns1:defRPr>
            </ns1:pPr>
            <ns1:r>
              <ns1:t>•  N-Way Overlap Algorithm &amp; CI/CD Pipeline</ns1:t>
            </ns1:r>
          </ns1:p>
        </ns0:txBody>
      </ns0:sp>
      <ns0:sp>
        <ns0:nvSpPr>
          <ns0:cNvPr id="9" name="Rounded Rectangle 8"/>
          <ns0:cNvSpPr/>
          <ns0:nvPr/>
        </ns0:nvSpPr>
        <ns0:spPr>
          <ns1:xfrm>
            <ns1:off x="8191500" y="2095500"/>
            <ns1:ext cx="3175000" cy="4216400"/>
          </ns1:xfrm>
          <ns1:prstGeom prst="roundRect">
            <ns1:avLst/>
          </ns1:prstGeom>
          <ns1:solidFill>
            <ns1:srgbClr val="FFFFFF"/>
          </ns1:solidFill>
          <ns1:ln w="1270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wrap="square" lIns="152400" rIns="152400" tIns="152400" bIns="127000"/>
          <ns1:lstStyle/>
          <ns1:p>
            <ns1:pPr algn="ctr">
              <ns1:spcAft>
                <ns1:spcPts val="200"/>
              </ns1:spcAft>
              <ns1:defRPr sz="850" b="1">
                <ns1:solidFill>
                  <ns1:srgbClr val="111111"/>
                </ns1:solidFill>
              </ns1:defRPr>
            </ns1:pPr>
            <ns1:r>
              <ns1:t>RESEARCH &amp; ANALYSIS LEAD</ns1:t>
            </ns1:r>
          </ns1:p>
          <ns1:p>
            <ns1:pPr>
              <ns1:spcAft>
                <ns1:spcPts val="400"/>
              </ns1:spcAft>
              <ns1:defRPr sz="1250" b="1">
                <ns1:solidFill>
                  <ns1:srgbClr val="111111"/>
                </ns1:solidFill>
              </ns1:defRPr>
            </ns1:pPr>
            <ns1:r>
              <ns1:t>Avdesh Kumar Sah</ns1:t>
            </ns1:r>
          </ns1:p>
          <ns1:p>
            <ns1:pPr>
              <ns1:spcAft>
                <ns1:spcPts val="200"/>
              </ns1:spcAft>
              <ns1:defRPr sz="850" b="0">
                <ns1:solidFill>
                  <ns1:srgbClr val="242220"/>
                </ns1:solidFill>
              </ns1:defRPr>
            </ns1:pPr>
            <ns1:r>
              <ns1:t>System ID: 2023265132  •  Roll: 2301010220</ns1:t>
            </ns1:r>
          </ns1:p>
          <ns1:p>
            <ns1:pPr>
              <ns1:spcAft>
                <ns1:spcPts val="100"/>
              </ns1:spcAft>
              <ns1:defRPr sz="750" b="0">
                <ns1:solidFill>
                  <ns1:srgbClr val="635D56"/>
                </ns1:solidFill>
              </ns1:defRPr>
            </ns1:pPr>
            <ns1:r>
              <ns1:t>✉  2023265132.avdesh@ug.sharda.ac.in</ns1:t>
            </ns1:r>
          </ns1:p>
          <ns1:p>
            <ns1:pPr>
              <ns1:spcAft>
                <ns1:spcPts val="600"/>
              </ns1:spcAft>
              <ns1:defRPr sz="850" b="0">
                <ns1:solidFill>
                  <ns1:srgbClr val="635D56"/>
                </ns1:solidFill>
              </ns1:defRPr>
            </ns1:pPr>
            <ns1:r>
              <ns1:t>✆  +91 8287054712</ns1:t>
            </ns1:r>
          </ns1:p>
          <ns1:p>
            <ns1:pPr>
              <ns1:spcAft>
                <ns1:spcPts val="300"/>
              </ns1:spcAft>
              <ns1:defRPr sz="800" b="1">
                <ns1:solidFill>
                  <ns1:srgbClr val="111111"/>
                </ns1:solidFill>
              </ns1:defRPr>
            </ns1:pPr>
            <ns1:r>
              <ns1:t>CORE RESPONSIBILITIES</ns1:t>
            </ns1:r>
          </ns1:p>
          <ns1:p>
            <ns1:pPr>
              <ns1:spcAft>
                <ns1:spcPts val="200"/>
              </ns1:spcAft>
              <ns1:defRPr sz="800" b="0">
                <ns1:solidFill>
                  <ns1:srgbClr val="242220"/>
                </ns1:solidFill>
              </ns1:defRPr>
            </ns1:pPr>
            <ns1:r>
              <ns1:t>•  Student Growth &amp; Academic Performance Analysis</ns1:t>
            </ns1:r>
          </ns1:p>
          <ns1:p>
            <ns1:pPr>
              <ns1:spcAft>
                <ns1:spcPts val="200"/>
              </ns1:spcAft>
              <ns1:defRPr sz="800" b="0">
                <ns1:solidFill>
                  <ns1:srgbClr val="242220"/>
                </ns1:solidFill>
              </ns1:defRPr>
            </ns1:pPr>
            <ns1:r>
              <ns1:t>•  Empirical Benchmark &amp; Evaluation Design</ns1:t>
            </ns1:r>
          </ns1:p>
          <ns1:p>
            <ns1:pPr>
              <ns1:spcAft>
                <ns1:spcPts val="200"/>
              </ns1:spcAft>
              <ns1:defRPr sz="800" b="0">
                <ns1:solidFill>
                  <ns1:srgbClr val="242220"/>
                </ns1:solidFill>
              </ns1:defRPr>
            </ns1:pPr>
            <ns1:r>
              <ns1:t>•  Academic Research Literature Review</ns1:t>
            </ns1:r>
          </ns1:p>
          <ns1:p>
            <ns1:pPr>
              <ns1:spcAft>
                <ns1:spcPts val="200"/>
              </ns1:spcAft>
              <ns1:defRPr sz="800" b="0">
                <ns1:solidFill>
                  <ns1:srgbClr val="242220"/>
                </ns1:solidFill>
              </ns1:defRPr>
            </ns1:pPr>
            <ns1:r>
              <ns1:t>•  Document Verification &amp; Records Testing</ns1:t>
            </ns1:r>
          </ns1:p>
          <ns1:p>
            <ns1:pPr>
              <ns1:spcAft>
                <ns1:spcPts val="200"/>
              </ns1:spcAft>
              <ns1:defRPr sz="800" b="0">
                <ns1:solidFill>
                  <ns1:srgbClr val="242220"/>
                </ns1:solidFill>
              </ns1:defRPr>
            </ns1:pPr>
            <ns1:r>
              <ns1:t>•  Analytical Reporting &amp; Validation Audits</ns1:t>
            </ns1:r>
          </ns1:p>
        </ns0:txBody>
      </ns0:sp>
      <ns0:sp>
        <ns0:nvSpPr>
          <ns0:cNvPr id="10" name="GuideBadge"/>
          <ns0:cNvSpPr/>
          <ns0:nvPr/>
        </ns0:nvSpPr>
        <ns0:spPr>
          <ns1:xfrm>
            <ns1:off x="6921500" y="533400"/>
            <ns1:ext cx="4508500" cy="304800"/>
          </ns1:xfrm>
          <ns1:prstGeom prst="roundRect">
            <ns1:avLst/>
          </ns1:prstGeom>
          <ns1:solidFill>
            <ns1:srgbClr val="FFFFFF"/>
          </ns1:solidFill>
          <ns1:ln w="1270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wrap="none" lIns="101600" rIns="101600" tIns="25400" bIns="25400"/>
          <ns1:lstStyle/>
          <ns1:p>
            <ns1:pPr algn="ctr">
              <ns1:defRPr sz="950" b="1">
                <ns1:solidFill>
                  <ns1:srgbClr val="111111"/>
                </ns1:solidFill>
              </ns1:defRPr>
            </ns1:pPr>
            <ns1:r>
              <ns1:t>GUIDE: Ms. Kamini   |   CO-GUIDE: Ms. Mekhala</ns1:t>
            </ns1:r>
          </ns1:p>
        </ns0:txBody>
      </ns0:sp>
    </ns0:spTree>
  </ns0:cSld>
  <ns0:clrMapOvr>
    <ns1:masterClrMapping/>
  </ns0:clrMapOvr>
</ns0:sld>
</file>

<file path=ppt/slides/slide2.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BACKGROUND &amp; ARCHITECTURAL NEED</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Problem Statement &amp; Project Motivation</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850">
                <ns1:solidFill>
                  <ns1:srgbClr val="635D56"/>
                </ns1:solidFill>
              </ns1:defRPr>
            </ns1:pPr>
            <ns1:r>
              <ns1:t>AcademicUniverse | Guide: Ms. Kamini, Co-Guide: Ms. Mekhala | Team: Kushagra, Aashish, Avdesh</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2 / 10</ns1:t>
            </ns1:r>
          </ns1:p>
        </ns0:txBody>
      </ns0:sp>
      <ns0:sp>
        <ns0:nvSpPr>
          <ns0:cNvPr id="8" name="Rounded Rectangle 7"/>
          <ns0:cNvSpPr/>
          <ns0:nvPr/>
        </ns0:nvSpPr>
        <ns0:spPr>
          <ns1:xfrm>
            <ns1:off x="731520" y="1554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1737360"/>
          </ns1:xfrm>
          <ns1:prstGeom prst="rect">
            <ns1:avLst/>
          </ns1:prstGeom>
          <ns1:noFill/>
        </ns0:spPr>
        <ns0:txBody>
          <ns1:bodyPr wrap="square">
            <ns1:spAutoFit/>
          </ns1:bodyPr>
          <ns1:lstStyle/>
          <ns1:p>
            <ns1:pPr>
              <ns1:spcAft>
                <ns1:spcPts val="600"/>
              </ns1:spcAft>
              <ns1:defRPr sz="1400" b="1">
                <ns1:solidFill>
                  <ns1:srgbClr val="111111"/>
                </ns1:solidFill>
              </ns1:defRPr>
            </ns1:pPr>
            <ns1:r>
              <ns1:t>1. Severe Academic Fragmentation</ns1:t>
            </ns1:r>
          </ns1:p>
          <ns1:p>
            <ns1:pPr>
              <ns1:defRPr sz="1150">
                <ns1:solidFill>
                  <ns1:srgbClr val="242220"/>
                </ns1:solidFill>
              </ns1:defRPr>
            </ns1:pPr>
            <ns1:r>
              <ns1:t>Traditional university workflows force students and professors to navigate 5+ disjointed web applications for attendance, class timetables, marks, circulars, and certificates. Critical data is isolated in siloed portals with zero cross-talk.</ns1:t>
            </ns1:r>
          </ns1:p>
        </ns0:txBody>
      </ns0:sp>
      <ns0:sp>
        <ns0:nvSpPr>
          <ns0:cNvPr id="10" name="Rounded Rectangle 9"/>
          <ns0:cNvSpPr/>
          <ns0:nvPr/>
        </ns0:nvSpPr>
        <ns0:spPr>
          <ns1:xfrm>
            <ns1:off x="6172200" y="1554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00600" cy="1737360"/>
          </ns1:xfrm>
          <ns1:prstGeom prst="rect">
            <ns1:avLst/>
          </ns1:prstGeom>
          <ns1:noFill/>
        </ns0:spPr>
        <ns0:txBody>
          <ns1:bodyPr wrap="square">
            <ns1:spAutoFit/>
          </ns1:bodyPr>
          <ns1:lstStyle/>
          <ns1:p>
            <ns1:pPr>
              <ns1:spcAft>
                <ns1:spcPts val="600"/>
              </ns1:spcAft>
              <ns1:defRPr sz="1400" b="1">
                <ns1:solidFill>
                  <ns1:srgbClr val="111111"/>
                </ns1:solidFill>
              </ns1:defRPr>
            </ns1:pPr>
            <ns1:r>
              <ns1:t>2. Coordination &amp; Free-Time Bottlenecks</ns1:t>
            </ns1:r>
          </ns1:p>
          <ns1:p>
            <ns1:pPr>
              <ns1:defRPr sz="1150">
                <ns1:solidFill>
                  <ns1:srgbClr val="242220"/>
                </ns1:solidFill>
              </ns1:defRPr>
            </ns1:pPr>
            <ns1:r>
              <ns1:t>University schedules run on 9 distinct 50-minute periods daily with rotating lab and elective batches. Organizing peer study groups, project sprint meets, and hackathons requires manual back-and-forth comparison, leading to constant scheduling friction.</ns1:t>
            </ns1:r>
          </ns1:p>
        </ns0:txBody>
      </ns0:sp>
      <ns0:sp>
        <ns0:nvSpPr>
          <ns0:cNvPr id="12" name="Rounded Rectangle 11"/>
          <ns0:cNvSpPr/>
          <ns0:nvPr/>
        </ns0:nvSpPr>
        <ns0:spPr>
          <ns1:xfrm>
            <ns1:off x="731520" y="3840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960120" y="4023360"/>
            <ns1:ext cx="4800600" cy="1737360"/>
          </ns1:xfrm>
          <ns1:prstGeom prst="rect">
            <ns1:avLst/>
          </ns1:prstGeom>
          <ns1:noFill/>
        </ns0:spPr>
        <ns0:txBody>
          <ns1:bodyPr wrap="square">
            <ns1:spAutoFit/>
          </ns1:bodyPr>
          <ns1:lstStyle/>
          <ns1:p>
            <ns1:pPr>
              <ns1:spcAft>
                <ns1:spcPts val="600"/>
              </ns1:spcAft>
              <ns1:defRPr sz="1400" b="1">
                <ns1:solidFill>
                  <ns1:srgbClr val="111111"/>
                </ns1:solidFill>
              </ns1:defRPr>
            </ns1:pPr>
            <ns1:r>
              <ns1:t>3. Unverified Digital Credentialing</ns1:t>
            </ns1:r>
          </ns1:p>
          <ns1:p>
            <ns1:pPr>
              <ns1:defRPr sz="1150">
                <ns1:solidFill>
                  <ns1:srgbClr val="242220"/>
                </ns1:solidFill>
              </ns1:defRPr>
            </ns1:pPr>
            <ns1:r>
              <ns1:t>Students lack a centralized, verifiable academic repository. Achievement certificates, semester grade sheets, and competition credentials get scattered in personal storage with no tamper-evident provenance or structured institutional verification.</ns1:t>
            </ns1:r>
          </ns1:p>
        </ns0:txBody>
      </ns0:sp>
      <ns0:sp>
        <ns0:nvSpPr>
          <ns0:cNvPr id="14" name="Rounded Rectangle 13"/>
          <ns0:cNvSpPr/>
          <ns0:nvPr/>
        </ns0:nvSpPr>
        <ns0:spPr>
          <ns1:xfrm>
            <ns1:off x="6172200" y="3840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6400800" y="4023360"/>
            <ns1:ext cx="4800600" cy="1737360"/>
          </ns1:xfrm>
          <ns1:prstGeom prst="rect">
            <ns1:avLst/>
          </ns1:prstGeom>
          <ns1:noFill/>
        </ns0:spPr>
        <ns0:txBody>
          <ns1:bodyPr wrap="square">
            <ns1:spAutoFit/>
          </ns1:bodyPr>
          <ns1:lstStyle/>
          <ns1:p>
            <ns1:pPr>
              <ns1:spcAft>
                <ns1:spcPts val="600"/>
              </ns1:spcAft>
              <ns1:defRPr sz="1400" b="1">
                <ns1:solidFill>
                  <ns1:srgbClr val="111111"/>
                </ns1:solidFill>
              </ns1:defRPr>
            </ns1:pPr>
            <ns1:r>
              <ns1:t>4. Context-Blind Campus AI Chatbots</ns1:t>
            </ns1:r>
          </ns1:p>
          <ns1:p>
            <ns1:pPr>
              <ns1:defRPr sz="1150">
                <ns1:solidFill>
                  <ns1:srgbClr val="242220"/>
                </ns1:solidFill>
              </ns1:defRPr>
            </ns1:pPr>
            <ns1:r>
              <ns1:t>Standard generative AI models know nothing about university reality. They cannot tell students where their next lecture is located, who is teaching, or which classroom block they must report to for practical simulations.</ns1:t>
            </ns1:r>
          </ns1:p>
        </ns0:txBody>
      </ns0:sp>
    </ns0:spTree>
  </ns0:cSld>
  <ns0:clrMapOvr>
    <ns1:masterClrMapping/>
  </ns0:clrMapOvr>
</ns0:sld>
</file>

<file path=ppt/slides/slide3.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SYSTEM DESIGN &amp; DATA PIPELINES</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Full-Stack System Architecture &amp; Production Stack</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850">
                <ns1:solidFill>
                  <ns1:srgbClr val="635D56"/>
                </ns1:solidFill>
              </ns1:defRPr>
            </ns1:pPr>
            <ns1:r>
              <ns1:t>AcademicUniverse | Guide: Ms. Kamini, Co-Guide: Ms. Mekhala | Team: Kushagra, Aashish, Avdesh</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3 / 10</ns1:t>
            </ns1:r>
          </ns1:p>
        </ns0:txBody>
      </ns0:sp>
      <ns0:sp>
        <ns0:nvSpPr>
          <ns0:cNvPr id="8" name="Rounded Rectangle 7"/>
          <ns0:cNvSpPr/>
          <ns0:nvPr/>
        </ns0:nvSpPr>
        <ns0:spPr>
          <ns1:xfrm>
            <ns1:off x="731520" y="1554480"/>
            <ns1:ext cx="347472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14400" y="1737360"/>
            <ns1:ext cx="3108960" cy="4206240"/>
          </ns1:xfrm>
          <ns1:prstGeom prst="rect">
            <ns1:avLst/>
          </ns1:prstGeom>
          <ns1:noFill/>
        </ns0:spPr>
        <ns0:txBody>
          <ns1:bodyPr wrap="square">
            <ns1:spAutoFit/>
          </ns1:bodyPr>
          <ns1:lstStyle/>
          <ns1:p>
            <ns1:pPr>
              <ns1:spcAft>
                <ns1:spcPts val="1200"/>
              </ns1:spcAft>
              <ns1:defRPr sz="1300" b="1">
                <ns1:solidFill>
                  <ns1:srgbClr val="111111"/>
                </ns1:solidFill>
              </ns1:defRPr>
            </ns1:pPr>
            <ns1:r>
              <ns1:t>FRONTEND TIER (Client)</ns1:t>
            </ns1:r>
          </ns1:p>
          <ns1:p>
            <ns1:pPr>
              <ns1:spcAft>
                <ns1:spcPts val="800"/>
              </ns1:spcAft>
              <ns1:defRPr sz="1050">
                <ns1:solidFill>
                  <ns1:srgbClr val="242220"/>
                </ns1:solidFill>
              </ns1:defRPr>
            </ns1:pPr>
            <ns1:r>
              <ns1:t>• Next.js 16 App Router + Turbopack engine for sub-second page transitions</ns1:t>
            </ns1:r>
          </ns1:p>
          <ns1:p>
            <ns1:pPr>
              <ns1:spcAft>
                <ns1:spcPts val="800"/>
              </ns1:spcAft>
              <ns1:defRPr sz="1050">
                <ns1:solidFill>
                  <ns1:srgbClr val="242220"/>
                </ns1:solidFill>
              </ns1:defRPr>
            </ns1:pPr>
            <ns1:r>
              <ns1:t>• Tailwind CSS + Radix UI + Lucide Icons for state-of-the-art dark aesthetics</ns1:t>
            </ns1:r>
          </ns1:p>
          <ns1:p>
            <ns1:pPr>
              <ns1:spcAft>
                <ns1:spcPts val="800"/>
              </ns1:spcAft>
              <ns1:defRPr sz="1050">
                <ns1:solidFill>
                  <ns1:srgbClr val="242220"/>
                </ns1:solidFill>
              </ns1:defRPr>
            </ns1:pPr>
            <ns1:r>
              <ns1:t>• Dual-Layer Navigation: Top Primary Navbar + Clean Left Dashboard Menu</ns1:t>
            </ns1:r>
          </ns1:p>
          <ns1:p>
            <ns1:pPr>
              <ns1:spcAft>
                <ns1:spcPts val="800"/>
              </ns1:spcAft>
              <ns1:defRPr sz="1050">
                <ns1:solidFill>
                  <ns1:srgbClr val="242220"/>
                </ns1:solidFill>
              </ns1:defRPr>
            </ns1:pPr>
            <ns1:r>
              <ns1:t>• React Query / Context for stateful synchronization of profiles &amp; schedules</ns1:t>
            </ns1:r>
          </ns1:p>
          <ns1:p>
            <ns1:pPr>
              <ns1:spcAft>
                <ns1:spcPts val="800"/>
              </ns1:spcAft>
              <ns1:defRPr sz="1050">
                <ns1:solidFill>
                  <ns1:srgbClr val="242220"/>
                </ns1:solidFill>
              </ns1:defRPr>
            </ns1:pPr>
            <ns1:r>
              <ns1:t>• Hosted on Vercel Edge with zero-downtime automated CI/CD pipeline</ns1:t>
            </ns1:r>
          </ns1:p>
        </ns0:txBody>
      </ns0:sp>
      <ns0:sp>
        <ns0:nvSpPr>
          <ns0:cNvPr id="10" name="Rounded Rectangle 9"/>
          <ns0:cNvSpPr/>
          <ns0:nvPr/>
        </ns0:nvSpPr>
        <ns0:spPr>
          <ns1:xfrm>
            <ns1:off x="4343400" y="1554480"/>
            <ns1:ext cx="347472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4526280" y="1737360"/>
            <ns1:ext cx="3108960" cy="4206240"/>
          </ns1:xfrm>
          <ns1:prstGeom prst="rect">
            <ns1:avLst/>
          </ns1:prstGeom>
          <ns1:noFill/>
        </ns0:spPr>
        <ns0:txBody>
          <ns1:bodyPr wrap="square">
            <ns1:spAutoFit/>
          </ns1:bodyPr>
          <ns1:lstStyle/>
          <ns1:p>
            <ns1:pPr>
              <ns1:spcAft>
                <ns1:spcPts val="1200"/>
              </ns1:spcAft>
              <ns1:defRPr sz="1300" b="1">
                <ns1:solidFill>
                  <ns1:srgbClr val="111111"/>
                </ns1:solidFill>
              </ns1:defRPr>
            </ns1:pPr>
            <ns1:r>
              <ns1:t>BACKEND TIER (Microservices)</ns1:t>
            </ns1:r>
          </ns1:p>
          <ns1:p>
            <ns1:pPr>
              <ns1:spcAft>
                <ns1:spcPts val="800"/>
              </ns1:spcAft>
              <ns1:defRPr sz="1050">
                <ns1:solidFill>
                  <ns1:srgbClr val="242220"/>
                </ns1:solidFill>
              </ns1:defRPr>
            </ns1:pPr>
            <ns1:r>
              <ns1:t>• Modular Express.js API framework fully written in strict TypeScript</ns1:t>
            </ns1:r>
          </ns1:p>
          <ns1:p>
            <ns1:pPr>
              <ns1:spcAft>
                <ns1:spcPts val="800"/>
              </ns1:spcAft>
              <ns1:defRPr sz="1050">
                <ns1:solidFill>
                  <ns1:srgbClr val="242220"/>
                </ns1:solidFill>
              </ns1:defRPr>
            </ns1:pPr>
            <ns1:r>
              <ns1:t>• Playwright Headless Automation Worker for university E-Zone synchronization</ns1:t>
            </ns1:r>
          </ns1:p>
          <ns1:p>
            <ns1:pPr>
              <ns1:spcAft>
                <ns1:spcPts val="800"/>
              </ns1:spcAft>
              <ns1:defRPr sz="1050">
                <ns1:solidFill>
                  <ns1:srgbClr val="242220"/>
                </ns1:solidFill>
              </ns1:defRPr>
            </ns1:pPr>
            <ns1:r>
              <ns1:t>• Firebase Auth Token Middleware + Role-Based Access Control (RBAC)</ns1:t>
            </ns1:r>
          </ns1:p>
          <ns1:p>
            <ns1:pPr>
              <ns1:spcAft>
                <ns1:spcPts val="800"/>
              </ns1:spcAft>
              <ns1:defRPr sz="1050">
                <ns1:solidFill>
                  <ns1:srgbClr val="242220"/>
                </ns1:solidFill>
              </ns1:defRPr>
            </ns1:pPr>
            <ns1:r>
              <ns1:t>• Dual Error Shielding: Resilient API proxies with Sentry telemetry &amp; fallback</ns1:t>
            </ns1:r>
          </ns1:p>
          <ns1:p>
            <ns1:pPr>
              <ns1:spcAft>
                <ns1:spcPts val="800"/>
              </ns1:spcAft>
              <ns1:defRPr sz="1050">
                <ns1:solidFill>
                  <ns1:srgbClr val="242220"/>
                </ns1:solidFill>
              </ns1:defRPr>
            </ns1:pPr>
            <ns1:r>
              <ns1:t>• Hosted on Railway Container PaaS with automatic scaling</ns1:t>
            </ns1:r>
          </ns1:p>
        </ns0:txBody>
      </ns0:sp>
      <ns0:sp>
        <ns0:nvSpPr>
          <ns0:cNvPr id="12" name="Rounded Rectangle 11"/>
          <ns0:cNvSpPr/>
          <ns0:nvPr/>
        </ns0:nvSpPr>
        <ns0:spPr>
          <ns1:xfrm>
            <ns1:off x="7955280" y="1554480"/>
            <ns1:ext cx="347472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8138160" y="1737360"/>
            <ns1:ext cx="3108960" cy="4206240"/>
          </ns1:xfrm>
          <ns1:prstGeom prst="rect">
            <ns1:avLst/>
          </ns1:prstGeom>
          <ns1:noFill/>
        </ns0:spPr>
        <ns0:txBody>
          <ns1:bodyPr wrap="square">
            <ns1:spAutoFit/>
          </ns1:bodyPr>
          <ns1:lstStyle/>
          <ns1:p>
            <ns1:pPr>
              <ns1:spcAft>
                <ns1:spcPts val="1200"/>
              </ns1:spcAft>
              <ns1:defRPr sz="1300" b="1">
                <ns1:solidFill>
                  <ns1:srgbClr val="111111"/>
                </ns1:solidFill>
              </ns1:defRPr>
            </ns1:pPr>
            <ns1:r>
              <ns1:t>DATA &amp; INTELLIGENCE TIER</ns1:t>
            </ns1:r>
          </ns1:p>
          <ns1:p>
            <ns1:pPr>
              <ns1:spcAft>
                <ns1:spcPts val="800"/>
              </ns1:spcAft>
              <ns1:defRPr sz="1050">
                <ns1:solidFill>
                  <ns1:srgbClr val="242220"/>
                </ns1:solidFill>
              </ns1:defRPr>
            </ns1:pPr>
            <ns1:r>
              <ns1:t>• MongoDB Atlas: Relational-modeled schema for users, profiles &amp; timetables</ns1:t>
            </ns1:r>
          </ns1:p>
          <ns1:p>
            <ns1:pPr>
              <ns1:spcAft>
                <ns1:spcPts val="800"/>
              </ns1:spcAft>
              <ns1:defRPr sz="1050">
                <ns1:solidFill>
                  <ns1:srgbClr val="242220"/>
                </ns1:solidFill>
              </ns1:defRPr>
            </ns1:pPr>
            <ns1:r>
              <ns1:t>• GridFS File Storage: Chunked binary document storage for verifiable certificates</ns1:t>
            </ns1:r>
          </ns1:p>
          <ns1:p>
            <ns1:pPr>
              <ns1:spcAft>
                <ns1:spcPts val="800"/>
              </ns1:spcAft>
              <ns1:defRPr sz="1050">
                <ns1:solidFill>
                  <ns1:srgbClr val="242220"/>
                </ns1:solidFill>
              </ns1:defRPr>
            </ns1:pPr>
            <ns1:r>
              <ns1:t>• Google Gemini 2.5 Flash: Context-injected LLM for live classroom &amp; schedule Q&amp;A</ns1:t>
            </ns1:r>
          </ns1:p>
          <ns1:p>
            <ns1:pPr>
              <ns1:spcAft>
                <ns1:spcPts val="800"/>
              </ns1:spcAft>
              <ns1:defRPr sz="1050">
                <ns1:solidFill>
                  <ns1:srgbClr val="242220"/>
                </ns1:solidFill>
              </ns1:defRPr>
            </ns1:pPr>
            <ns1:r>
              <ns1:t>• Google Sheets Live Archival: Bi-directional administrative audit synchronization</ns1:t>
            </ns1:r>
          </ns1:p>
          <ns1:p>
            <ns1:pPr>
              <ns1:spcAft>
                <ns1:spcPts val="800"/>
              </ns1:spcAft>
              <ns1:defRPr sz="1050">
                <ns1:solidFill>
                  <ns1:srgbClr val="242220"/>
                </ns1:solidFill>
              </ns1:defRPr>
            </ns1:pPr>
            <ns1:r>
              <ns1:t>• Triple Git Remote Mirroring: Provenance tracking across 3 GitHub accounts</ns1:t>
            </ns1:r>
          </ns1:p>
        </ns0:txBody>
      </ns0:sp>
    </ns0:spTree>
  </ns0:cSld>
  <ns0:clrMapOvr>
    <ns1:masterClrMapping/>
  </ns0:clrMapOvr>
</ns0:sld>
</file>

<file path=ppt/slides/slide4.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CORE CAPABILITY • PORTAL INTEGRATION</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1: Automated E-Zone Profile &amp; Timetable Sync</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850">
                <ns1:solidFill>
                  <ns1:srgbClr val="635D56"/>
                </ns1:solidFill>
              </ns1:defRPr>
            </ns1:pPr>
            <ns1:r>
              <ns1:t>AcademicUniverse | Guide: Ms. Kamini, Co-Guide: Ms. Mekhala | Team: Kushagra, Aashish, Avdesh</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4 / 10</ns1:t>
            </ns1:r>
          </ns1:p>
        </ns0:txBody>
      </ns0:sp>
      <ns0:sp>
        <ns0:nvSpPr>
          <ns0:cNvPr id="8" name="Rounded Rectangle 7"/>
          <ns0:cNvSpPr/>
          <ns0:nvPr/>
        </ns0:nvSpPr>
        <ns0:spPr>
          <ns1:xfrm>
            <ns1:off x="731520" y="1554480"/>
            <ns1:ext cx="621792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5760720" cy="4206240"/>
          </ns1:xfrm>
          <ns1:prstGeom prst="rect">
            <ns1:avLst/>
          </ns1:prstGeom>
          <ns1:noFill/>
        </ns0:spPr>
        <ns0:txBody>
          <ns1:bodyPr wrap="square">
            <ns1:spAutoFit/>
          </ns1:bodyPr>
          <ns1:lstStyle/>
          <ns1:p>
            <ns1:pPr>
              <ns1:spcAft>
                <ns1:spcPts val="1000"/>
              </ns1:spcAft>
              <ns1:defRPr sz="1600" b="1">
                <ns1:solidFill>
                  <ns1:srgbClr val="111111"/>
                </ns1:solidFill>
              </ns1:defRPr>
            </ns1:pPr>
            <ns1:r>
              <ns1:t>Automated University Portal Integration</ns1:t>
            </ns1:r>
          </ns1:p>
          <ns1:p>
            <ns1:pPr>
              <ns1:spcAft>
                <ns1:spcPts val="700"/>
              </ns1:spcAft>
              <ns1:defRPr b="1" sz="1050">
                <ns1:solidFill>
                  <ns1:srgbClr val="242220"/>
                </ns1:solidFill>
              </ns1:defRPr>
            </ns1:pPr>
            <ns1:r>
              <ns1:t>✔ Playwright Automation Engine: </ns1:t>
            </ns1:r>
            <ns1:r>
              <ns1:rPr b="0">
                <ns1:solidFill>
                  <ns1:srgbClr val="635D56"/>
                </ns1:solidFill>
              </ns1:rPr>
              <ns1:t>Performs automated browser interactions with the Sharda University E-Zone portal to extract authoritative academic records with zero manual input.</ns1:t>
            </ns1:r>
          </ns1:p>
          <ns1:p>
            <ns1:pPr>
              <ns1:spcAft>
                <ns1:spcPts val="700"/>
              </ns1:spcAft>
              <ns1:defRPr b="1" sz="1050">
                <ns1:solidFill>
                  <ns1:srgbClr val="242220"/>
                </ns1:solidFill>
              </ns1:defRPr>
            </ns1:pPr>
            <ns1:r>
              <ns1:t>✔ Two-Factor Student Email OTP: </ns1:t>
            </ns1:r>
            <ns1:r>
              <ns1:rPr b="0">
                <ns1:solidFill>
                  <ns1:srgbClr val="635D56"/>
                </ns1:solidFill>
              </ns1:rPr>
              <ns1:t>Secure 2-step verification protocol requiring the student to input their 6-digit verification code received on official '@ug.sharda.ac.in' email.</ns1:t>
            </ns1:r>
          </ns1:p>
          <ns1:p>
            <ns1:pPr>
              <ns1:spcAft>
                <ns1:spcPts val="700"/>
              </ns1:spcAft>
              <ns1:defRPr b="1" sz="1050">
                <ns1:solidFill>
                  <ns1:srgbClr val="242220"/>
                </ns1:solidFill>
              </ns1:defRPr>
            </ns1:pPr>
            <ns1:r>
              <ns1:t>✔ Real Attendance &amp; Grade Synchronization: </ns1:t>
            </ns1:r>
            <ns1:r>
              <ns1:rPr b="0">
                <ns1:solidFill>
                  <ns1:srgbClr val="635D56"/>
                </ns1:solidFill>
              </ns1:rPr>
              <ns1:t>Captures course-level attendance percentages (e.g. 100%, 67%), lecture counts, semester level, and registered credits.</ns1:t>
            </ns1:r>
          </ns1:p>
          <ns1:p>
            <ns1:pPr>
              <ns1:spcAft>
                <ns1:spcPts val="700"/>
              </ns1:spcAft>
              <ns1:defRPr b="1" sz="1050">
                <ns1:solidFill>
                  <ns1:srgbClr val="242220"/>
                </ns1:solidFill>
              </ns1:defRPr>
            </ns1:pPr>
            <ns1:r>
              <ns1:t>✔ Full Institutional Timetable Parsing: </ns1:t>
            </ns1:r>
            <ns1:r>
              <ns1:rPr b="0">
                <ns1:solidFill>
                  <ns1:srgbClr val="635D56"/>
                </ns1:solidFill>
              </ns1:rPr>
              <ns1:t>Extracts complete Monday–Saturday schedules with exact time blocks (09:00 to 16:15), subject names, faculty teachers, and room numbers.</ns1:t>
            </ns1:r>
          </ns1:p>
          <ns1:p>
            <ns1:pPr>
              <ns1:spcAft>
                <ns1:spcPts val="700"/>
              </ns1:spcAft>
              <ns1:defRPr b="1" sz="1050">
                <ns1:solidFill>
                  <ns1:srgbClr val="242220"/>
                </ns1:solidFill>
              </ns1:defRPr>
            </ns1:pPr>
            <ns1:r>
              <ns1:t>✔ Google Sheets + MongoDB Dual Storage: </ns1:t>
            </ns1:r>
            <ns1:r>
              <ns1:rPr b="0">
                <ns1:solidFill>
                  <ns1:srgbClr val="635D56"/>
                </ns1:solidFill>
              </ns1:rPr>
              <ns1:t>Persists clean normalized models into MongoDB Atlas while streaming audit rows to Google Sheets for administrative transparency.</ns1:t>
            </ns1:r>
          </ns1:p>
        </ns0:txBody>
      </ns0:sp>
      <ns0:sp>
        <ns0:nvSpPr>
          <ns0:cNvPr id="10" name="Rounded Rectangle 9"/>
          <ns0:cNvSpPr/>
          <ns0:nvPr/>
        </ns0:nvSpPr>
        <ns0:spPr>
          <ns1:xfrm>
            <ns1:off x="7132320" y="1554480"/>
            <ns1:ext cx="4327855" cy="4572000"/>
          </ns1:xfrm>
          <ns1:prstGeom prst="roundRect">
            <ns1:avLst/>
          </ns1:prstGeom>
          <ns1:solidFill>
            <ns1:srgbClr val="141414"/>
          </ns1:solidFill>
          <ns1:ln w="15240">
            <ns1:solidFill>
              <ns1:srgbClr val="333333"/>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7360920" y="1737360"/>
            <ns1:ext cx="3840480" cy="4206240"/>
          </ns1:xfrm>
          <ns1:prstGeom prst="rect">
            <ns1:avLst/>
          </ns1:prstGeom>
          <ns1:noFill/>
        </ns0:spPr>
        <ns0:txBody>
          <ns1:bodyPr wrap="square">
            <ns1:spAutoFit/>
          </ns1:bodyPr>
          <ns1:lstStyle/>
          <ns1:p>
            <ns1:pPr>
              <ns1:spcAft>
                <ns1:spcPts val="1200"/>
              </ns1:spcAft>
              <ns1:defRPr sz="1300" b="1">
                <ns1:solidFill>
                  <ns1:srgbClr val="F7F3EB"/>
                </ns1:solidFill>
              </ns1:defRPr>
            </ns1:pPr>
            <ns1:r>
              <ns1:t>VERIFIED IN LIVE DATABASE</ns1:t>
            </ns1:r>
          </ns1:p>
          <ns1:p>
            <ns1:pPr>
              <ns1:defRPr sz="950" b="1">
                <ns1:solidFill>
                  <ns1:srgbClr val="D8CEBD"/>
                </ns1:solidFill>
              </ns1:defRPr>
            </ns1:pPr>
            <ns1:r>
              <ns1:t>STUDENT SYSTEM ID</ns1:t>
            </ns1:r>
          </ns1:p>
          <ns1:p>
            <ns1:pPr>
              <ns1:spcAft>
                <ns1:spcPts val="800"/>
              </ns1:spcAft>
              <ns1:defRPr sz="1150" b="1">
                <ns1:solidFill>
                  <ns1:srgbClr val="FFFFFF"/>
                </ns1:solidFill>
              </ns1:defRPr>
            </ns1:pPr>
            <ns1:r>
              <ns1:t>2023329421 (Aashish Rajput)</ns1:t>
            </ns1:r>
          </ns1:p>
          <ns1:p>
            <ns1:pPr>
              <ns1:defRPr sz="950" b="1">
                <ns1:solidFill>
                  <ns1:srgbClr val="D8CEBD"/>
                </ns1:solidFill>
              </ns1:defRPr>
            </ns1:pPr>
            <ns1:r>
              <ns1:t>LIVE SYNCED TIMETABLE</ns1:t>
            </ns1:r>
          </ns1:p>
          <ns1:p>
            <ns1:pPr>
              <ns1:spcAft>
                <ns1:spcPts val="800"/>
              </ns1:spcAft>
              <ns1:defRPr sz="1150" b="1">
                <ns1:solidFill>
                  <ns1:srgbClr val="FFFFFF"/>
                </ns1:solidFill>
              </ns1:defRPr>
            </ns1:pPr>
            <ns1:r>
              <ns1:t>12 Active Weekly Class Slots</ns1:t>
            </ns1:r>
          </ns1:p>
          <ns1:p>
            <ns1:pPr>
              <ns1:defRPr sz="950" b="1">
                <ns1:solidFill>
                  <ns1:srgbClr val="D8CEBD"/>
                </ns1:solidFill>
              </ns1:defRPr>
            </ns1:pPr>
            <ns1:r>
              <ns1:t>CLASSROOM ALLOCATIONS</ns1:t>
            </ns1:r>
          </ns1:p>
          <ns1:p>
            <ns1:pPr>
              <ns1:spcAft>
                <ns1:spcPts val="800"/>
              </ns1:spcAft>
              <ns1:defRPr sz="1150" b="1">
                <ns1:solidFill>
                  <ns1:srgbClr val="FFFFFF"/>
                </ns1:solidFill>
              </ns1:defRPr>
            </ns1:pPr>
            <ns1:r>
              <ns1:t>Room 206 Block 3, Room 008 Block 3</ns1:t>
            </ns1:r>
          </ns1:p>
          <ns1:p>
            <ns1:pPr>
              <ns1:defRPr sz="950" b="1">
                <ns1:solidFill>
                  <ns1:srgbClr val="D8CEBD"/>
                </ns1:solidFill>
              </ns1:defRPr>
            </ns1:pPr>
            <ns1:r>
              <ns1:t>FACULTY INTEGRATED</ns1:t>
            </ns1:r>
          </ns1:p>
          <ns1:p>
            <ns1:pPr>
              <ns1:spcAft>
                <ns1:spcPts val="800"/>
              </ns1:spcAft>
              <ns1:defRPr sz="1150" b="1">
                <ns1:solidFill>
                  <ns1:srgbClr val="FFFFFF"/>
                </ns1:solidFill>
              </ns1:defRPr>
            </ns1:pPr>
            <ns1:r>
              <ns1:t>Dr. Batri K, Ms. Akanksha Srivastav</ns1:t>
            </ns1:r>
          </ns1:p>
          <ns1:p>
            <ns1:pPr>
              <ns1:defRPr sz="950" b="1">
                <ns1:solidFill>
                  <ns1:srgbClr val="D8CEBD"/>
                </ns1:solidFill>
              </ns1:defRPr>
            </ns1:pPr>
            <ns1:r>
              <ns1:t>SYNC PROTOCOL STATUS</ns1:t>
            </ns1:r>
          </ns1:p>
          <ns1:p>
            <ns1:pPr>
              <ns1:spcAft>
                <ns1:spcPts val="800"/>
              </ns1:spcAft>
              <ns1:defRPr sz="1150" b="1">
                <ns1:solidFill>
                  <ns1:srgbClr val="FFFFFF"/>
                </ns1:solidFill>
              </ns1:defRPr>
            </ns1:pPr>
            <ns1:r>
              <ns1:t>OTP Verified &amp; DB Active</ns1:t>
            </ns1:r>
          </ns1:p>
          <ns1:p>
            <ns1:pPr>
              <ns1:defRPr sz="950" b="1">
                <ns1:solidFill>
                  <ns1:srgbClr val="D8CEBD"/>
                </ns1:solidFill>
              </ns1:defRPr>
            </ns1:pPr>
            <ns1:r>
              <ns1:t>GOOGLE SHEETS STREAM</ns1:t>
            </ns1:r>
          </ns1:p>
          <ns1:p>
            <ns1:pPr>
              <ns1:spcAft>
                <ns1:spcPts val="800"/>
              </ns1:spcAft>
              <ns1:defRPr sz="1150" b="1">
                <ns1:solidFill>
                  <ns1:srgbClr val="FFFFFF"/>
                </ns1:solidFill>
              </ns1:defRPr>
            </ns1:pPr>
            <ns1:r>
              <ns1:t>Automated Append Enabled</ns1:t>
            </ns1:r>
          </ns1:p>
        </ns0:txBody>
      </ns0:sp>
    </ns0:spTree>
  </ns0:cSld>
  <ns0:clrMapOvr>
    <ns1:masterClrMapping/>
  </ns0:clrMapOvr>
</ns0:sld>
</file>

<file path=ppt/slides/slide5.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CONTEXT-AWARE ARTIFICIAL INTELLIGENCE</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2: Live AI Campus Chatbot with Classroom Intelligence</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850">
                <ns1:solidFill>
                  <ns1:srgbClr val="635D56"/>
                </ns1:solidFill>
              </ns1:defRPr>
            </ns1:pPr>
            <ns1:r>
              <ns1:t>AcademicUniverse | Guide: Ms. Kamini, Co-Guide: Ms. Mekhala | Team: Kushagra, Aashish, Avdesh</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5 / 10</ns1:t>
            </ns1:r>
          </ns1:p>
        </ns0:txBody>
      </ns0:sp>
      <ns0:sp>
        <ns0:nvSpPr>
          <ns0:cNvPr id="8" name="Rounded Rectangle 7"/>
          <ns0:cNvSpPr/>
          <ns0:nvPr/>
        </ns0:nvSpPr>
        <ns0:spPr>
          <ns1:xfrm>
            <ns1:off x="731520" y="1554480"/>
            <ns1:ext cx="525780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4206240"/>
          </ns1:xfrm>
          <ns1:prstGeom prst="rect">
            <ns1:avLst/>
          </ns1:prstGeom>
          <ns1:noFill/>
        </ns0:spPr>
        <ns0:txBody>
          <ns1:bodyPr wrap="square">
            <ns1:spAutoFit/>
          </ns1:bodyPr>
          <ns1:lstStyle/>
          <ns1:p>
            <ns1:pPr>
              <ns1:spcAft>
                <ns1:spcPts val="1000"/>
              </ns1:spcAft>
              <ns1:defRPr sz="1600" b="1">
                <ns1:solidFill>
                  <ns1:srgbClr val="111111"/>
                </ns1:solidFill>
              </ns1:defRPr>
            </ns1:pPr>
            <ns1:r>
              <ns1:t>Real Classroom Context Injection</ns1:t>
            </ns1:r>
          </ns1:p>
          <ns1:p>
            <ns1:pPr>
              <ns1:spcAft>
                <ns1:spcPts val="700"/>
              </ns1:spcAft>
              <ns1:defRPr b="1" sz="1050">
                <ns1:solidFill>
                  <ns1:srgbClr val="242220"/>
                </ns1:solidFill>
              </ns1:defRPr>
            </ns1:pPr>
            <ns1:r>
              <ns1:t>★ Dynamic Schedule Querying: </ns1:t>
            </ns1:r>
            <ns1:r>
              <ns1:rPr b="0">
                <ns1:solidFill>
                  <ns1:srgbClr val="635D56"/>
                </ns1:solidFill>
              </ns1:rPr>
              <ns1:t>Before querying Google Gemini, the backend queries MongoDB 'AcademicSchedule' for the student's authenticated user ID.</ns1:t>
            </ns1:r>
          </ns1:p>
          <ns1:p>
            <ns1:pPr>
              <ns1:spcAft>
                <ns1:spcPts val="700"/>
              </ns1:spcAft>
              <ns1:defRPr b="1" sz="1050">
                <ns1:solidFill>
                  <ns1:srgbClr val="242220"/>
                </ns1:solidFill>
              </ns1:defRPr>
            </ns1:pPr>
            <ns1:r>
              <ns1:t>★ Exact Room &amp; Teacher Resolution: </ns1:t>
            </ns1:r>
            <ns1:r>
              <ns1:rPr b="0">
                <ns1:solidFill>
                  <ns1:srgbClr val="635D56"/>
                </ns1:solidFill>
              </ns1:rPr>
              <ns1:t>Injects live classroom blocks: Room 206 Block 3 (Research Methodology with Dr. Batri K) and Room 008 Block 3 (Algorithm Lab).</ns1:t>
            </ns1:r>
          </ns1:p>
          <ns1:p>
            <ns1:pPr>
              <ns1:spcAft>
                <ns1:spcPts val="700"/>
              </ns1:spcAft>
              <ns1:defRPr b="1" sz="1050">
                <ns1:solidFill>
                  <ns1:srgbClr val="242220"/>
                </ns1:solidFill>
              </ns1:defRPr>
            </ns1:pPr>
            <ns1:r>
              <ns1:t>★ Zero Generic Hallucinations: </ns1:t>
            </ns1:r>
            <ns1:r>
              <ns1:rPr b="0">
                <ns1:solidFill>
                  <ns1:srgbClr val="635D56"/>
                </ns1:solidFill>
              </ns1:rPr>
              <ns1:t>Instead of vague boilerplate responses, the AI answers student queries with exact room numbers, lecture timings, and faculty names.</ns1:t>
            </ns1:r>
          </ns1:p>
          <ns1:p>
            <ns1:pPr>
              <ns1:spcAft>
                <ns1:spcPts val="700"/>
              </ns1:spcAft>
              <ns1:defRPr b="1" sz="1050">
                <ns1:solidFill>
                  <ns1:srgbClr val="242220"/>
                </ns1:solidFill>
              </ns1:defRPr>
            </ns1:pPr>
            <ns1:r>
              <ns1:t>★ Emotional Support &amp; Campus Mentoring: </ns1:t>
            </ns1:r>
            <ns1:r>
              <ns1:rPr b="0">
                <ns1:solidFill>
                  <ns1:srgbClr val="635D56"/>
                </ns1:solidFill>
              </ns1:rPr>
              <ns1:t>Built-in emotional intelligence layer providing empathetic exam guidance, study-stress relief, and peer productivity tips.</ns1:t>
            </ns1:r>
          </ns1:p>
          <ns1:p>
            <ns1:pPr>
              <ns1:spcAft>
                <ns1:spcPts val="700"/>
              </ns1:spcAft>
              <ns1:defRPr b="1" sz="1050">
                <ns1:solidFill>
                  <ns1:srgbClr val="242220"/>
                </ns1:solidFill>
              </ns1:defRPr>
            </ns1:pPr>
            <ns1:r>
              <ns1:t>★ Model Failover Architecture: </ns1:t>
            </ns1:r>
            <ns1:r>
              <ns1:rPr b="0">
                <ns1:solidFill>
                  <ns1:srgbClr val="635D56"/>
                </ns1:solidFill>
              </ns1:rPr>
              <ns1:t>Primary inference via Google Gemini 2.5 Flash with resilient retry mechanisms to guarantee 99.9% chatbot uptime.</ns1:t>
            </ns1:r>
          </ns1:p>
        </ns0:txBody>
      </ns0:sp>
      <ns0:sp>
        <ns0:nvSpPr>
          <ns0:cNvPr id="10" name="Rounded Rectangle 9"/>
          <ns0:cNvSpPr/>
          <ns0:nvPr/>
        </ns0:nvSpPr>
        <ns0:spPr>
          <ns1:xfrm>
            <ns1:off x="6172200" y="1554480"/>
            <ns1:ext cx="5287975" cy="4572000"/>
          </ns1:xfrm>
          <ns1:prstGeom prst="roundRect">
            <ns1:avLst/>
          </ns1:prstGeom>
          <ns1:solidFill>
            <ns1:srgbClr val="141414"/>
          </ns1:solidFill>
          <ns1:ln w="15240">
            <ns1:solidFill>
              <ns1:srgbClr val="333333"/>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46320" cy="4206240"/>
          </ns1:xfrm>
          <ns1:prstGeom prst="rect">
            <ns1:avLst/>
          </ns1:prstGeom>
          <ns1:noFill/>
        </ns0:spPr>
        <ns0:txBody>
          <ns1:bodyPr wrap="square">
            <ns1:spAutoFit/>
          </ns1:bodyPr>
          <ns1:lstStyle/>
          <ns1:p>
            <ns1:pPr>
              <ns1:spcAft>
                <ns1:spcPts val="1200"/>
              </ns1:spcAft>
              <ns1:defRPr sz="1300" b="1">
                <ns1:solidFill>
                  <ns1:srgbClr val="F7F3EB"/>
                </ns1:solidFill>
              </ns1:defRPr>
            </ns1:pPr>
            <ns1:r>
              <ns1:t>LIVE TESTED PROMPT INTERACTION</ns1:t>
            </ns1:r>
          </ns1:p>
          <ns1:p>
            <ns1:pPr>
              <ns1:defRPr sz="1000" b="1">
                <ns1:solidFill>
                  <ns1:srgbClr val="D8CEBD"/>
                </ns1:solidFill>
              </ns1:defRPr>
            </ns1:pPr>
            <ns1:r>
              <ns1:t>Student Prompt:</ns1:t>
            </ns1:r>
          </ns1:p>
          <ns1:p>
            <ns1:pPr>
              <ns1:spcAft>
                <ns1:spcPts val="800"/>
              </ns1:spcAft>
              <ns1:defRPr sz="1050">
                <ns1:solidFill>
                  <ns1:srgbClr val="FFFFFF"/>
                </ns1:solidFill>
              </ns1:defRPr>
            </ns1:pPr>
            <ns1:r>
              <ns1:t>Where is my Research Methodology lecture today, and who teaches it?</ns1:t>
            </ns1:r>
          </ns1:p>
          <ns1:p>
            <ns1:pPr>
              <ns1:defRPr sz="1000" b="1">
                <ns1:solidFill>
                  <ns1:srgbClr val="D8CEBD"/>
                </ns1:solidFill>
              </ns1:defRPr>
            </ns1:pPr>
            <ns1:r>
              <ns1:t>Academic Universe AI:</ns1:t>
            </ns1:r>
          </ns1:p>
          <ns1:p>
            <ns1:pPr>
              <ns1:spcAft>
                <ns1:spcPts val="800"/>
              </ns1:spcAft>
              <ns1:defRPr sz="1050">
                <ns1:solidFill>
                  <ns1:srgbClr val="FFFFFF"/>
                </ns1:solidFill>
              </ns1:defRPr>
            </ns1:pPr>
            <ns1:r>
              <ns1:t>Your Research Methodology class is scheduled in Room 206, Block 3 from 10:40 AM to 11:25 AM. The course is conducted by Dr. Batri K. Make sure to arrive 5 minutes early!</ns1:t>
            </ns1:r>
          </ns1:p>
          <ns1:p>
            <ns1:pPr>
              <ns1:defRPr sz="1000" b="1">
                <ns1:solidFill>
                  <ns1:srgbClr val="D8CEBD"/>
                </ns1:solidFill>
              </ns1:defRPr>
            </ns1:pPr>
            <ns1:r>
              <ns1:t>Student Prompt:</ns1:t>
            </ns1:r>
          </ns1:p>
          <ns1:p>
            <ns1:pPr>
              <ns1:spcAft>
                <ns1:spcPts val="800"/>
              </ns1:spcAft>
              <ns1:defRPr sz="1050">
                <ns1:solidFill>
                  <ns1:srgbClr val="FFFFFF"/>
                </ns1:solidFill>
              </ns1:defRPr>
            </ns1:pPr>
            <ns1:r>
              <ns1:t>Where do I go for my Simulation Lab session?</ns1:t>
            </ns1:r>
          </ns1:p>
          <ns1:p>
            <ns1:pPr>
              <ns1:defRPr sz="1000" b="1">
                <ns1:solidFill>
                  <ns1:srgbClr val="D8CEBD"/>
                </ns1:solidFill>
              </ns1:defRPr>
            </ns1:pPr>
            <ns1:r>
              <ns1:t>Academic Universe AI:</ns1:t>
            </ns1:r>
          </ns1:p>
          <ns1:p>
            <ns1:pPr>
              <ns1:spcAft>
                <ns1:spcPts val="800"/>
              </ns1:spcAft>
              <ns1:defRPr sz="1050">
                <ns1:solidFill>
                  <ns1:srgbClr val="FFFFFF"/>
                </ns1:solidFill>
              </ns1:defRPr>
            </ns1:pPr>
            <ns1:r>
              <ns1:t>Your Technical Skill Enhancement Simulation Lab takes place in Room No 008, Block 3 under the guidance of Mr. Mayank Aggarwal.</ns1:t>
            </ns1:r>
          </ns1:p>
        </ns0:txBody>
      </ns0:sp>
    </ns0:spTree>
  </ns0:cSld>
  <ns0:clrMapOvr>
    <ns1:masterClrMapping/>
  </ns0:clrMapOvr>
</ns0:sld>
</file>

<file path=ppt/slides/slide6.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ALGORITHMIC SCHEDULING &amp; COLLABORATION</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3: Overlap Engine — Smart Student Free-Time Planner</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850">
                <ns1:solidFill>
                  <ns1:srgbClr val="635D56"/>
                </ns1:solidFill>
              </ns1:defRPr>
            </ns1:pPr>
            <ns1:r>
              <ns1:t>AcademicUniverse | Guide: Ms. Kamini, Co-Guide: Ms. Mekhala | Team: Kushagra, Aashish, Avdesh</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6 / 10</ns1:t>
            </ns1:r>
          </ns1:p>
        </ns0:txBody>
      </ns0:sp>
      <ns0:sp>
        <ns0:nvSpPr>
          <ns0:cNvPr id="8" name="Rounded Rectangle 7"/>
          <ns0:cNvSpPr/>
          <ns0:nvPr/>
        </ns0:nvSpPr>
        <ns0:spPr>
          <ns1:xfrm>
            <ns1:off x="731520" y="1554480"/>
            <ns1:ext cx="525780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4206240"/>
          </ns1:xfrm>
          <ns1:prstGeom prst="rect">
            <ns1:avLst/>
          </ns1:prstGeom>
          <ns1:noFill/>
        </ns0:spPr>
        <ns0:txBody>
          <ns1:bodyPr wrap="square">
            <ns1:spAutoFit/>
          </ns1:bodyPr>
          <ns1:lstStyle/>
          <ns1:p>
            <ns1:pPr>
              <ns1:spcAft>
                <ns1:spcPts val="1000"/>
              </ns1:spcAft>
              <ns1:defRPr sz="1600" b="1">
                <ns1:solidFill>
                  <ns1:srgbClr val="111111"/>
                </ns1:solidFill>
              </ns1:defRPr>
            </ns1:pPr>
            <ns1:r>
              <ns1:t>Mathematical Free-Slot Intersection</ns1:t>
            </ns1:r>
          </ns1:p>
          <ns1:p>
            <ns1:pPr>
              <ns1:spcAft>
                <ns1:spcPts val="700"/>
              </ns1:spcAft>
              <ns1:defRPr b="1" sz="1050">
                <ns1:solidFill>
                  <ns1:srgbClr val="242220"/>
                </ns1:solidFill>
              </ns1:defRPr>
            </ns1:pPr>
            <ns1:r>
              <ns1:t>✔ N-Way Interval Intersection: </ns1:t>
            </ns1:r>
            <ns1:r>
              <ns1:rPr b="0">
                <ns1:solidFill>
                  <ns1:srgbClr val="635D56"/>
                </ns1:solidFill>
              </ns1:rPr>
              <ns1:t>Mathematical interval algorithm that maps daily schedules onto standardized institutional 50-minute periods (09:00 - 16:40) across Monday through Saturday.</ns1:t>
            </ns1:r>
          </ns1:p>
          <ns1:p>
            <ns1:pPr>
              <ns1:spcAft>
                <ns1:spcPts val="700"/>
              </ns1:spcAft>
              <ns1:defRPr b="1" sz="1050">
                <ns1:solidFill>
                  <ns1:srgbClr val="242220"/>
                </ns1:solidFill>
              </ns1:defRPr>
            </ns1:pPr>
            <ns1:r>
              <ns1:t>✔ Multi-Student Selection (1 to 5): </ns1:t>
            </ns1:r>
            <ns1:r>
              <ns1:rPr b="0">
                <ns1:solidFill>
                  <ns1:srgbClr val="635D56"/>
                </ns1:solidFill>
              </ns1:rPr>
              <ns1:t>Allows any student to search and pick up to 5 peers in their department to compute mutually free meeting intervals.</ns1:t>
            </ns1:r>
          </ns1:p>
          <ns1:p>
            <ns1:pPr>
              <ns1:spcAft>
                <ns1:spcPts val="700"/>
              </ns1:spcAft>
              <ns1:defRPr b="1" sz="1050">
                <ns1:solidFill>
                  <ns1:srgbClr val="242220"/>
                </ns1:solidFill>
              </ns1:defRPr>
            </ns1:pPr>
            <ns1:r>
              <ns1:t>✔ Live Identity &amp; System ID Resolution: </ns1:t>
            </ns1:r>
            <ns1:r>
              <ns1:rPr b="0">
                <ns1:solidFill>
                  <ns1:srgbClr val="635D56"/>
                </ns1:solidFill>
              </ns1:rPr>
              <ns1:t>Dynamically links MongoDB 'User' records with 'EzoneAcademicProfile' so real names ('Aashish Rajput', 'Vishal Sharma') and System IDs are displayed.</ns1:t>
            </ns1:r>
          </ns1:p>
          <ns1:p>
            <ns1:pPr>
              <ns1:spcAft>
                <ns1:spcPts val="700"/>
              </ns1:spcAft>
              <ns1:defRPr b="1" sz="1050">
                <ns1:solidFill>
                  <ns1:srgbClr val="242220"/>
                </ns1:solidFill>
              </ns1:defRPr>
            </ns1:pPr>
            <ns1:r>
              <ns1:t>✔ Schedule Sync Verification Badges: </ns1:t>
            </ns1:r>
            <ns1:r>
              <ns1:rPr b="0">
                <ns1:solidFill>
                  <ns1:srgbClr val="635D56"/>
                </ns1:solidFill>
              </ns1:rPr>
              <ns1:t>Visual '✅ Synced Schedule' vs '⚠ Never Synced' status badges prevent planning meetings with students who have not uploaded timetables.</ns1:t>
            </ns1:r>
          </ns1:p>
          <ns1:p>
            <ns1:pPr>
              <ns1:spcAft>
                <ns1:spcPts val="700"/>
              </ns1:spcAft>
              <ns1:defRPr b="1" sz="1050">
                <ns1:solidFill>
                  <ns1:srgbClr val="242220"/>
                </ns1:solidFill>
              </ns1:defRPr>
            </ns1:pPr>
            <ns1:r>
              <ns1:t>✔ Host (You) Status Card: </ns1:t>
            </ns1:r>
            <ns1:r>
              <ns1:rPr b="0">
                <ns1:solidFill>
                  <ns1:srgbClr val="635D56"/>
                </ns1:solidFill>
              </ns1:rPr>
              <ns1:t>Prominently highlights the logged-in user as the meeting host with their active synced schedule ready for coordination.</ns1:t>
            </ns1:r>
          </ns1:p>
        </ns0:txBody>
      </ns0:sp>
      <ns0:sp>
        <ns0:nvSpPr>
          <ns0:cNvPr id="10" name="Rounded Rectangle 9"/>
          <ns0:cNvSpPr/>
          <ns0:nvPr/>
        </ns0:nvSpPr>
        <ns0:spPr>
          <ns1:xfrm>
            <ns1:off x="6172200" y="1554480"/>
            <ns1:ext cx="5287975" cy="4572000"/>
          </ns1:xfrm>
          <ns1:prstGeom prst="roundRect">
            <ns1:avLst/>
          </ns1:prstGeom>
          <ns1:solidFill>
            <ns1:srgbClr val="141414"/>
          </ns1:solidFill>
          <ns1:ln w="15240">
            <ns1:solidFill>
              <ns1:srgbClr val="333333"/>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46320" cy="4206240"/>
          </ns1:xfrm>
          <ns1:prstGeom prst="rect">
            <ns1:avLst/>
          </ns1:prstGeom>
          <ns1:noFill/>
        </ns0:spPr>
        <ns0:txBody>
          <ns1:bodyPr wrap="square">
            <ns1:spAutoFit/>
          </ns1:bodyPr>
          <ns1:lstStyle/>
          <ns1:p>
            <ns1:pPr>
              <ns1:spcAft>
                <ns1:spcPts val="1200"/>
              </ns1:spcAft>
              <ns1:defRPr sz="1300" b="1">
                <ns1:solidFill>
                  <ns1:srgbClr val="F7F3EB"/>
                </ns1:solidFill>
              </ns1:defRPr>
            </ns1:pPr>
            <ns1:r>
              <ns1:t>HOW OVERLAP ENGINE FINDS COMMON TIME</ns1:t>
            </ns1:r>
          </ns1:p>
          <ns1:p>
            <ns1:pPr>
              <ns1:defRPr sz="1050" b="1">
                <ns1:solidFill>
                  <ns1:srgbClr val="D8CEBD"/>
                </ns1:solidFill>
              </ns1:defRPr>
            </ns1:pPr>
            <ns1:r>
              <ns1:t>Step 1: Student Search</ns1:t>
            </ns1:r>
          </ns1:p>
          <ns1:p>
            <ns1:pPr>
              <ns1:spcAft>
                <ns1:spcPts val="700"/>
              </ns1:spcAft>
              <ns1:defRPr sz="1000">
                <ns1:solidFill>
                  <ns1:srgbClr val="FFFFFF"/>
                </ns1:solidFill>
              </ns1:defRPr>
            </ns1:pPr>
            <ns1:r>
              <ns1:t>Search peers by System ID (e.g. 2024427058) or Name. Tenant-isolated to Sharda University.</ns1:t>
            </ns1:r>
          </ns1:p>
          <ns1:p>
            <ns1:pPr>
              <ns1:defRPr sz="1050" b="1">
                <ns1:solidFill>
                  <ns1:srgbClr val="D8CEBD"/>
                </ns1:solidFill>
              </ns1:defRPr>
            </ns1:pPr>
            <ns1:r>
              <ns1:t>Step 2: Timetable Ingestion</ns1:t>
            </ns1:r>
          </ns1:p>
          <ns1:p>
            <ns1:pPr>
              <ns1:spcAft>
                <ns1:spcPts val="700"/>
              </ns1:spcAft>
              <ns1:defRPr sz="1000">
                <ns1:solidFill>
                  <ns1:srgbClr val="FFFFFF"/>
                </ns1:solidFill>
              </ns1:defRPr>
            </ns1:pPr>
            <ns1:r>
              <ns1:t>Engine fetches verified E-Zone timetable matrix for Host + all selected participant IDs.</ns1:t>
            </ns1:r>
          </ns1:p>
          <ns1:p>
            <ns1:pPr>
              <ns1:defRPr sz="1050" b="1">
                <ns1:solidFill>
                  <ns1:srgbClr val="D8CEBD"/>
                </ns1:solidFill>
              </ns1:defRPr>
            </ns1:pPr>
            <ns1:r>
              <ns1:t>Step 3: Interval Intersection</ns1:t>
            </ns1:r>
          </ns1:p>
          <ns1:p>
            <ns1:pPr>
              <ns1:spcAft>
                <ns1:spcPts val="700"/>
              </ns1:spcAft>
              <ns1:defRPr sz="1000">
                <ns1:solidFill>
                  <ns1:srgbClr val="FFFFFF"/>
                </ns1:solidFill>
              </ns1:defRPr>
            </ns1:pPr>
            <ns1:r>
              <ns1:t>Performs mathematical set intersection: Free(Day) = Free(Host) ∩ Free(Student A) ∩ Free(Student B).</ns1:t>
            </ns1:r>
          </ns1:p>
          <ns1:p>
            <ns1:pPr>
              <ns1:defRPr sz="1050" b="1">
                <ns1:solidFill>
                  <ns1:srgbClr val="D8CEBD"/>
                </ns1:solidFill>
              </ns1:defRPr>
            </ns1:pPr>
            <ns1:r>
              <ns1:t>Step 4: AI Ranked Slots</ns1:t>
            </ns1:r>
          </ns1:p>
          <ns1:p>
            <ns1:pPr>
              <ns1:spcAft>
                <ns1:spcPts val="700"/>
              </ns1:spcAft>
              <ns1:defRPr sz="1000">
                <ns1:solidFill>
                  <ns1:srgbClr val="FFFFFF"/>
                </ns1:solidFill>
              </ns1:defRPr>
            </ns1:pPr>
            <ns1:r>
              <ns1:t>Consecutive free periods are grouped into 1-hour or 2-hour blocks and ranked for optimal study sessions.</ns1:t>
            </ns1:r>
          </ns1:p>
          <ns1:p>
            <ns1:pPr>
              <ns1:defRPr sz="1050" b="1">
                <ns1:solidFill>
                  <ns1:srgbClr val="D8CEBD"/>
                </ns1:solidFill>
              </ns1:defRPr>
            </ns1:pPr>
            <ns1:r>
              <ns1:t>Step 5: Instant Share / Export</ns1:t>
            </ns1:r>
          </ns1:p>
          <ns1:p>
            <ns1:pPr>
              <ns1:spcAft>
                <ns1:spcPts val="700"/>
              </ns1:spcAft>
              <ns1:defRPr sz="1000">
                <ns1:solidFill>
                  <ns1:srgbClr val="FFFFFF"/>
                </ns1:solidFill>
              </ns1:defRPr>
            </ns1:pPr>
            <ns1:r>
              <ns1:t>One-click copy of meeting recommendations with exact period timings and room recommendations.</ns1:t>
            </ns1:r>
          </ns1:p>
        </ns0:txBody>
      </ns0:sp>
    </ns0:spTree>
  </ns0:cSld>
  <ns0:clrMapOvr>
    <ns1:masterClrMapping/>
  </ns0:clrMapOvr>
</ns0:sld>
</file>

<file path=ppt/slides/slide7.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RESEARCH &amp; SCHOLARLY PUBLICATION</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4: AI-Powered Academic Research Wing</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850">
                <ns1:solidFill>
                  <ns1:srgbClr val="635D56"/>
                </ns1:solidFill>
              </ns1:defRPr>
            </ns1:pPr>
            <ns1:r>
              <ns1:t>AcademicUniverse | Guide: Ms. Kamini, Co-Guide: Ms. Mekhala | Team: Kushagra, Aashish, Avdesh</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7 / 10</ns1:t>
            </ns1:r>
          </ns1:p>
        </ns0:txBody>
      </ns0:sp>
      <ns0:sp>
        <ns0:nvSpPr>
          <ns0:cNvPr id="8" name="Rounded Rectangle 7"/>
          <ns0:cNvSpPr/>
          <ns0:nvPr/>
        </ns0:nvSpPr>
        <ns0:spPr>
          <ns1:xfrm>
            <ns1:off x="731520" y="1554480"/>
            <ns1:ext cx="347472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14400" y="1737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1. TOPIC GENERATION</ns1:t>
            </ns1:r>
          </ns1:p>
          <ns1:p>
            <ns1:pPr>
              <ns1:defRPr sz="1050">
                <ns1:solidFill>
                  <ns1:srgbClr val="242220"/>
                </ns1:solidFill>
              </ns1:defRPr>
            </ns1:pPr>
            <ns1:r>
              <ns1:t>Explores high-impact research topics, problem formulations, and state-of-the-art gap analysis based on student's engineering interests.</ns1:t>
            </ns1:r>
          </ns1:p>
        </ns0:txBody>
      </ns0:sp>
      <ns0:sp>
        <ns0:nvSpPr>
          <ns0:cNvPr id="10" name="Rounded Rectangle 9"/>
          <ns0:cNvSpPr/>
          <ns0:nvPr/>
        </ns0:nvSpPr>
        <ns0:spPr>
          <ns1:xfrm>
            <ns1:off x="4343400" y="1554480"/>
            <ns1:ext cx="347472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4526280" y="1737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2. RESEARCH OUTLINE</ns1:t>
            </ns1:r>
          </ns1:p>
          <ns1:p>
            <ns1:pPr>
              <ns1:defRPr sz="1050">
                <ns1:solidFill>
                  <ns1:srgbClr val="242220"/>
                </ns1:solidFill>
              </ns1:defRPr>
            </ns1:pPr>
            <ns1:r>
              <ns1:t>Synthesizes structured academic outlines following IEEE and ACM standard templates with clear subsection breakdowns.</ns1:t>
            </ns1:r>
          </ns1:p>
        </ns0:txBody>
      </ns0:sp>
      <ns0:sp>
        <ns0:nvSpPr>
          <ns0:cNvPr id="12" name="Rounded Rectangle 11"/>
          <ns0:cNvSpPr/>
          <ns0:nvPr/>
        </ns0:nvSpPr>
        <ns0:spPr>
          <ns1:xfrm>
            <ns1:off x="7955280" y="1554480"/>
            <ns1:ext cx="347472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8138160" y="1737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3. CONTENT WRITER</ns1:t>
            </ns1:r>
          </ns1:p>
          <ns1:p>
            <ns1:pPr>
              <ns1:defRPr sz="1050">
                <ns1:solidFill>
                  <ns1:srgbClr val="242220"/>
                </ns1:solidFill>
              </ns1:defRPr>
            </ns1:pPr>
            <ns1:r>
              <ns1:t>Full-length section generation with interactive prompt improvement, literature review expansion, and formula formatting.</ns1:t>
            </ns1:r>
          </ns1:p>
        </ns0:txBody>
      </ns0:sp>
      <ns0:sp>
        <ns0:nvSpPr>
          <ns0:cNvPr id="14" name="Rounded Rectangle 13"/>
          <ns0:cNvSpPr/>
          <ns0:nvPr/>
        </ns0:nvSpPr>
        <ns0:spPr>
          <ns1:xfrm>
            <ns1:off x="731520" y="3840480"/>
            <ns1:ext cx="347472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914400" y="4023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4. ABSTRACT &amp; CITATIONS</ns1:t>
            </ns1:r>
          </ns1:p>
          <ns1:p>
            <ns1:pPr>
              <ns1:defRPr sz="1050">
                <ns1:solidFill>
                  <ns1:srgbClr val="242220"/>
                </ns1:solidFill>
              </ns1:defRPr>
            </ns1:pPr>
            <ns1:r>
              <ns1:t>Generates concise IEEE-style abstracts and properly formatted scholarly bibliographies with DOI indexing.</ns1:t>
            </ns1:r>
          </ns1:p>
        </ns0:txBody>
      </ns0:sp>
      <ns0:sp>
        <ns0:nvSpPr>
          <ns0:cNvPr id="16" name="Rounded Rectangle 15"/>
          <ns0:cNvSpPr/>
          <ns0:nvPr/>
        </ns0:nvSpPr>
        <ns0:spPr>
          <ns1:xfrm>
            <ns1:off x="4343400" y="3840480"/>
            <ns1:ext cx="347472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7" name="TextBox 16"/>
          <ns0:cNvSpPr txBox="1"/>
          <ns0:nvPr/>
        </ns0:nvSpPr>
        <ns0:spPr>
          <ns1:xfrm>
            <ns1:off x="4526280" y="4023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5. FINAL EXPORT</ns1:t>
            </ns1:r>
          </ns1:p>
          <ns1:p>
            <ns1:pPr>
              <ns1:defRPr sz="1050">
                <ns1:solidFill>
                  <ns1:srgbClr val="242220"/>
                </ns1:solidFill>
              </ns1:defRPr>
            </ns1:pPr>
            <ns1:r>
              <ns1:t>One-click export directly to publication-ready PDF and editable Microsoft Word (DOCX) files.</ns1:t>
            </ns1:r>
          </ns1:p>
        </ns0:txBody>
      </ns0:sp>
      <ns0:sp>
        <ns0:nvSpPr>
          <ns0:cNvPr id="18" name="Rounded Rectangle 17"/>
          <ns0:cNvSpPr/>
          <ns0:nvPr/>
        </ns0:nvSpPr>
        <ns0:spPr>
          <ns1:xfrm>
            <ns1:off x="7955280" y="3840480"/>
            <ns1:ext cx="347472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9" name="TextBox 18"/>
          <ns0:cNvSpPr txBox="1"/>
          <ns0:nvPr/>
        </ns0:nvSpPr>
        <ns0:spPr>
          <ns1:xfrm>
            <ns1:off x="8138160" y="4023360"/>
            <ns1:ext cx="3108960" cy="1737360"/>
          </ns1:xfrm>
          <ns1:prstGeom prst="rect">
            <ns1:avLst/>
          </ns1:prstGeom>
          <ns1:noFill/>
        </ns0:spPr>
        <ns0:txBody>
          <ns1:bodyPr wrap="square">
            <ns1:spAutoFit/>
          </ns1:bodyPr>
          <ns1:lstStyle/>
          <ns1:p>
            <ns1:pPr>
              <ns1:spcAft>
                <ns1:spcPts val="600"/>
              </ns1:spcAft>
              <ns1:defRPr sz="1200" b="1">
                <ns1:solidFill>
                  <ns1:srgbClr val="111111"/>
                </ns1:solidFill>
              </ns1:defRPr>
            </ns1:pPr>
            <ns1:r>
              <ns1:t>6. DRAFT HISTORY</ns1:t>
            </ns1:r>
          </ns1:p>
          <ns1:p>
            <ns1:pPr>
              <ns1:defRPr sz="1050">
                <ns1:solidFill>
                  <ns1:srgbClr val="242220"/>
                </ns1:solidFill>
              </ns1:defRPr>
            </ns1:pPr>
            <ns1:r>
              <ns1:t>Saves all research iterations in MongoDB Atlas so students can resume drafting papers at any time.</ns1:t>
            </ns1:r>
          </ns1:p>
        </ns0:txBody>
      </ns0:sp>
    </ns0:spTree>
  </ns0:cSld>
  <ns0:clrMapOvr>
    <ns1:masterClrMapping/>
  </ns0:clrMapOvr>
</ns0:sld>
</file>

<file path=ppt/slides/slide8.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DIGITAL CREDENTIALING &amp; GMAIL SYNC</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5: Verifiable Academic Records &amp; Document Intelligence</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850">
                <ns1:solidFill>
                  <ns1:srgbClr val="635D56"/>
                </ns1:solidFill>
              </ns1:defRPr>
            </ns1:pPr>
            <ns1:r>
              <ns1:t>AcademicUniverse | Guide: Ms. Kamini, Co-Guide: Ms. Mekhala | Team: Kushagra, Aashish, Avdesh</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8 / 10</ns1:t>
            </ns1:r>
          </ns1:p>
        </ns0:txBody>
      </ns0:sp>
      <ns0:sp>
        <ns0:nvSpPr>
          <ns0:cNvPr id="8" name="Rounded Rectangle 7"/>
          <ns0:cNvSpPr/>
          <ns0:nvPr/>
        </ns0:nvSpPr>
        <ns0:spPr>
          <ns1:xfrm>
            <ns1:off x="731520" y="1554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14400" y="1691640"/>
            <ns1:ext cx="4892040" cy="1828800"/>
          </ns1:xfrm>
          <ns1:prstGeom prst="rect">
            <ns1:avLst/>
          </ns1:prstGeom>
          <ns1:noFill/>
        </ns0:spPr>
        <ns0:txBody>
          <ns1:bodyPr wrap="square">
            <ns1:spAutoFit/>
          </ns1:bodyPr>
          <ns1:lstStyle/>
          <ns1:p>
            <ns1:pPr>
              <ns1:spcAft>
                <ns1:spcPts val="600"/>
              </ns1:spcAft>
              <ns1:defRPr sz="1300" b="1">
                <ns1:solidFill>
                  <ns1:srgbClr val="111111"/>
                </ns1:solidFill>
              </ns1:defRPr>
            </ns1:pPr>
            <ns1:r>
              <ns1:t>Verifiable Academic Records (GridFS Vault)</ns1:t>
            </ns1:r>
          </ns1:p>
          <ns1:p>
            <ns1:pPr>
              <ns1:spcAft>
                <ns1:spcPts val="200"/>
              </ns1:spcAft>
              <ns1:defRPr sz="1000">
                <ns1:solidFill>
                  <ns1:srgbClr val="242220"/>
                </ns1:solidFill>
              </ns1:defRPr>
            </ns1:pPr>
            <ns1:r>
              <ns1:t>• Secure storage of 57+ genuine academic achievement records &amp; certificates</ns1:t>
            </ns1:r>
          </ns1:p>
          <ns1:p>
            <ns1:pPr>
              <ns1:spcAft>
                <ns1:spcPts val="200"/>
              </ns1:spcAft>
              <ns1:defRPr sz="1000">
                <ns1:solidFill>
                  <ns1:srgbClr val="242220"/>
                </ns1:solidFill>
              </ns1:defRPr>
            </ns1:pPr>
            <ns1:r>
              <ns1:t>• Binary files stored in MongoDB GridFS with SHA-256 integrity verification</ns1:t>
            </ns1:r>
          </ns1:p>
          <ns1:p>
            <ns1:pPr>
              <ns1:spcAft>
                <ns1:spcPts val="200"/>
              </ns1:spcAft>
              <ns1:defRPr sz="1000">
                <ns1:solidFill>
                  <ns1:srgbClr val="242220"/>
                </ns1:solidFill>
              </ns1:defRPr>
            </ns1:pPr>
            <ns1:r>
              <ns1:t>• Eliminates lost certificates and simplifies placement credential sharing</ns1:t>
            </ns1:r>
          </ns1:p>
          <ns1:p>
            <ns1:pPr>
              <ns1:spcAft>
                <ns1:spcPts val="200"/>
              </ns1:spcAft>
              <ns1:defRPr sz="1000">
                <ns1:solidFill>
                  <ns1:srgbClr val="242220"/>
                </ns1:solidFill>
              </ns1:defRPr>
            </ns1:pPr>
            <ns1:r>
              <ns1:t>• Centralized student profile showcasing academic excellence &amp; GPA progression</ns1:t>
            </ns1:r>
          </ns1:p>
        </ns0:txBody>
      </ns0:sp>
      <ns0:sp>
        <ns0:nvSpPr>
          <ns0:cNvPr id="10" name="Rounded Rectangle 9"/>
          <ns0:cNvSpPr/>
          <ns0:nvPr/>
        </ns0:nvSpPr>
        <ns0:spPr>
          <ns1:xfrm>
            <ns1:off x="6172200" y="1554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355080" y="1691640"/>
            <ns1:ext cx="4892040" cy="1828800"/>
          </ns1:xfrm>
          <ns1:prstGeom prst="rect">
            <ns1:avLst/>
          </ns1:prstGeom>
          <ns1:noFill/>
        </ns0:spPr>
        <ns0:txBody>
          <ns1:bodyPr wrap="square">
            <ns1:spAutoFit/>
          </ns1:bodyPr>
          <ns1:lstStyle/>
          <ns1:p>
            <ns1:pPr>
              <ns1:spcAft>
                <ns1:spcPts val="600"/>
              </ns1:spcAft>
              <ns1:defRPr sz="1300" b="1">
                <ns1:solidFill>
                  <ns1:srgbClr val="111111"/>
                </ns1:solidFill>
              </ns1:defRPr>
            </ns1:pPr>
            <ns1:r>
              <ns1:t>Document Intelligence Pipeline</ns1:t>
            </ns1:r>
          </ns1:p>
          <ns1:p>
            <ns1:pPr>
              <ns1:spcAft>
                <ns1:spcPts val="200"/>
              </ns1:spcAft>
              <ns1:defRPr sz="1000">
                <ns1:solidFill>
                  <ns1:srgbClr val="242220"/>
                </ns1:solidFill>
              </ns1:defRPr>
            </ns1:pPr>
            <ns1:r>
              <ns1:t>• Automated thumbnail generation for instant document inspection and preview</ns1:t>
            </ns1:r>
          </ns1:p>
          <ns1:p>
            <ns1:pPr>
              <ns1:spcAft>
                <ns1:spcPts val="200"/>
              </ns1:spcAft>
              <ns1:defRPr sz="1000">
                <ns1:solidFill>
                  <ns1:srgbClr val="242220"/>
                </ns1:solidFill>
              </ns1:defRPr>
            </ns1:pPr>
            <ns1:r>
              <ns1:t>• Classification tags: Technical certifications, hackathons, academic degrees</ns1:t>
            </ns1:r>
          </ns1:p>
          <ns1:p>
            <ns1:pPr>
              <ns1:spcAft>
                <ns1:spcPts val="200"/>
              </ns1:spcAft>
              <ns1:defRPr sz="1000">
                <ns1:solidFill>
                  <ns1:srgbClr val="242220"/>
                </ns1:solidFill>
              </ns1:defRPr>
            </ns1:pPr>
            <ns1:r>
              <ns1:t>• Full modal preview with high-resolution zooming and download capabilities</ns1:t>
            </ns1:r>
          </ns1:p>
          <ns1:p>
            <ns1:pPr>
              <ns1:spcAft>
                <ns1:spcPts val="200"/>
              </ns1:spcAft>
              <ns1:defRPr sz="1000">
                <ns1:solidFill>
                  <ns1:srgbClr val="242220"/>
                </ns1:solidFill>
              </ns1:defRPr>
            </ns1:pPr>
            <ns1:r>
              <ns1:t>• Directly linked into student placement resumes and faculty review dashboards</ns1:t>
            </ns1:r>
          </ns1:p>
        </ns0:txBody>
      </ns0:sp>
      <ns0:sp>
        <ns0:nvSpPr>
          <ns0:cNvPr id="12" name="Rounded Rectangle 11"/>
          <ns0:cNvSpPr/>
          <ns0:nvPr/>
        </ns0:nvSpPr>
        <ns0:spPr>
          <ns1:xfrm>
            <ns1:off x="731520" y="3840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914400" y="3977640"/>
            <ns1:ext cx="4892040" cy="1828800"/>
          </ns1:xfrm>
          <ns1:prstGeom prst="rect">
            <ns1:avLst/>
          </ns1:prstGeom>
          <ns1:noFill/>
        </ns0:spPr>
        <ns0:txBody>
          <ns1:bodyPr wrap="square">
            <ns1:spAutoFit/>
          </ns1:bodyPr>
          <ns1:lstStyle/>
          <ns1:p>
            <ns1:pPr>
              <ns1:spcAft>
                <ns1:spcPts val="600"/>
              </ns1:spcAft>
              <ns1:defRPr sz="1300" b="1">
                <ns1:solidFill>
                  <ns1:srgbClr val="111111"/>
                </ns1:solidFill>
              </ns1:defRPr>
            </ns1:pPr>
            <ns1:r>
              <ns1:t>Gmail Events Synchronization Engine</ns1:t>
            </ns1:r>
          </ns1:p>
          <ns1:p>
            <ns1:pPr>
              <ns1:spcAft>
                <ns1:spcPts val="200"/>
              </ns1:spcAft>
              <ns1:defRPr sz="1000">
                <ns1:solidFill>
                  <ns1:srgbClr val="242220"/>
                </ns1:solidFill>
              </ns1:defRPr>
            </ns1:pPr>
            <ns1:r>
              <ns1:t>• Google OAuth 2.0 Web Client authentication with university email scope</ns1:t>
            </ns1:r>
          </ns1:p>
          <ns1:p>
            <ns1:pPr>
              <ns1:spcAft>
                <ns1:spcPts val="200"/>
              </ns1:spcAft>
              <ns1:defRPr sz="1000">
                <ns1:solidFill>
                  <ns1:srgbClr val="242220"/>
                </ns1:solidFill>
              </ns1:defRPr>
            </ns1:pPr>
            <ns1:r>
              <ns1:t>• Scans incoming student Gmail messages for institutional notices and seminars</ns1:t>
            </ns1:r>
          </ns1:p>
          <ns1:p>
            <ns1:pPr>
              <ns1:spcAft>
                <ns1:spcPts val="200"/>
              </ns1:spcAft>
              <ns1:defRPr sz="1000">
                <ns1:solidFill>
                  <ns1:srgbClr val="242220"/>
                </ns1:solidFill>
              </ns1:defRPr>
            </ns1:pPr>
            <ns1:r>
              <ns1:t>• Extracts event dates, seminar venues, and deadlines into calendar cards</ns1:t>
            </ns1:r>
          </ns1:p>
          <ns1:p>
            <ns1:pPr>
              <ns1:spcAft>
                <ns1:spcPts val="200"/>
              </ns1:spcAft>
              <ns1:defRPr sz="1000">
                <ns1:solidFill>
                  <ns1:srgbClr val="242220"/>
                </ns1:solidFill>
              </ns1:defRPr>
            </ns1:pPr>
            <ns1:r>
              <ns1:t>• Eliminates missed departmental notices and campus registration deadlines</ns1:t>
            </ns1:r>
          </ns1:p>
        </ns0:txBody>
      </ns0:sp>
      <ns0:sp>
        <ns0:nvSpPr>
          <ns0:cNvPr id="14" name="Rounded Rectangle 13"/>
          <ns0:cNvSpPr/>
          <ns0:nvPr/>
        </ns0:nvSpPr>
        <ns0:spPr>
          <ns1:xfrm>
            <ns1:off x="6172200" y="3840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6355080" y="3977640"/>
            <ns1:ext cx="4892040" cy="1828800"/>
          </ns1:xfrm>
          <ns1:prstGeom prst="rect">
            <ns1:avLst/>
          </ns1:prstGeom>
          <ns1:noFill/>
        </ns0:spPr>
        <ns0:txBody>
          <ns1:bodyPr wrap="square">
            <ns1:spAutoFit/>
          </ns1:bodyPr>
          <ns1:lstStyle/>
          <ns1:p>
            <ns1:pPr>
              <ns1:spcAft>
                <ns1:spcPts val="600"/>
              </ns1:spcAft>
              <ns1:defRPr sz="1300" b="1">
                <ns1:solidFill>
                  <ns1:srgbClr val="111111"/>
                </ns1:solidFill>
              </ns1:defRPr>
            </ns1:pPr>
            <ns1:r>
              <ns1:t>Institutional Audit &amp; Security Guard</ns1:t>
            </ns1:r>
          </ns1:p>
          <ns1:p>
            <ns1:pPr>
              <ns1:spcAft>
                <ns1:spcPts val="200"/>
              </ns1:spcAft>
              <ns1:defRPr sz="1000">
                <ns1:solidFill>
                  <ns1:srgbClr val="242220"/>
                </ns1:solidFill>
              </ns1:defRPr>
            </ns1:pPr>
            <ns1:r>
              <ns1:t>• Strict tenant isolation ensuring student data cannot be accessed across orgs</ns1:t>
            </ns1:r>
          </ns1:p>
          <ns1:p>
            <ns1:pPr>
              <ns1:spcAft>
                <ns1:spcPts val="200"/>
              </ns1:spcAft>
              <ns1:defRPr sz="1000">
                <ns1:solidFill>
                  <ns1:srgbClr val="242220"/>
                </ns1:solidFill>
              </ns1:defRPr>
            </ns1:pPr>
            <ns1:r>
              <ns1:t>• Firebase Admin service account integration for trusted server-side execution</ns1:t>
            </ns1:r>
          </ns1:p>
          <ns1:p>
            <ns1:pPr>
              <ns1:spcAft>
                <ns1:spcPts val="200"/>
              </ns1:spcAft>
              <ns1:defRPr sz="1000">
                <ns1:solidFill>
                  <ns1:srgbClr val="242220"/>
                </ns1:solidFill>
              </ns1:defRPr>
            </ns1:pPr>
            <ns1:r>
              <ns1:t>• Credential token cleansing to eliminate OAuth redirect and newline errors</ns1:t>
            </ns1:r>
          </ns1:p>
          <ns1:p>
            <ns1:pPr>
              <ns1:spcAft>
                <ns1:spcPts val="200"/>
              </ns1:spcAft>
              <ns1:defRPr sz="1000">
                <ns1:solidFill>
                  <ns1:srgbClr val="242220"/>
                </ns1:solidFill>
              </ns1:defRPr>
            </ns1:pPr>
            <ns1:r>
              <ns1:t>• Real-time Sentry exception capturing and performance monitoring</ns1:t>
            </ns1:r>
          </ns1:p>
        </ns0:txBody>
      </ns0:sp>
    </ns0:spTree>
  </ns0:cSld>
  <ns0:clrMapOvr>
    <ns1:masterClrMapping/>
  </ns0:clrMapOvr>
</ns0:sld>
</file>

<file path=ppt/slides/slide9.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STUDENT SUCCESS &amp; PRODUCTIVITY TOOLS</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Module 6: Placement Preparation &amp; Campus Navigation</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850">
                <ns1:solidFill>
                  <ns1:srgbClr val="635D56"/>
                </ns1:solidFill>
              </ns1:defRPr>
            </ns1:pPr>
            <ns1:r>
              <ns1:t>AcademicUniverse | Guide: Ms. Kamini, Co-Guide: Ms. Mekhala | Team: Kushagra, Aashish, Avdesh</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9 / 10</ns1:t>
            </ns1:r>
          </ns1:p>
        </ns0:txBody>
      </ns0:sp>
      <ns0:sp>
        <ns0:nvSpPr>
          <ns0:cNvPr id="8" name="Rounded Rectangle 7"/>
          <ns0:cNvSpPr/>
          <ns0:nvPr/>
        </ns0:nvSpPr>
        <ns0:spPr>
          <ns1:xfrm>
            <ns1:off x="731520" y="1554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1737360"/>
          </ns1:xfrm>
          <ns1:prstGeom prst="rect">
            <ns1:avLst/>
          </ns1:prstGeom>
          <ns1:noFill/>
        </ns0:spPr>
        <ns0:txBody>
          <ns1:bodyPr wrap="square">
            <ns1:spAutoFit/>
          </ns1:bodyPr>
          <ns1:lstStyle/>
          <ns1:p>
            <ns1:pPr>
              <ns1:spcAft>
                <ns1:spcPts val="800"/>
              </ns1:spcAft>
              <ns1:defRPr sz="1400" b="1">
                <ns1:solidFill>
                  <ns1:srgbClr val="111111"/>
                </ns1:solidFill>
              </ns1:defRPr>
            </ns1:pPr>
            <ns1:r>
              <ns1:t>💼  Career &amp; Verified Profile</ns1:t>
            </ns1:r>
          </ns1:p>
          <ns1:p>
            <ns1:pPr>
              <ns1:defRPr sz="1100">
                <ns1:solidFill>
                  <ns1:srgbClr val="242220"/>
                </ns1:solidFill>
              </ns1:defRPr>
            </ns1:pPr>
            <ns1:r>
              <ns1:t>A unified student showcase displaying verified certificates, academic semester milestones, and technical accomplishments directly accessible to faculty and recruiters.</ns1:t>
            </ns1:r>
          </ns1:p>
        </ns0:txBody>
      </ns0:sp>
      <ns0:sp>
        <ns0:nvSpPr>
          <ns0:cNvPr id="10" name="Rounded Rectangle 9"/>
          <ns0:cNvSpPr/>
          <ns0:nvPr/>
        </ns0:nvSpPr>
        <ns0:spPr>
          <ns1:xfrm>
            <ns1:off x="6172200" y="1554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00600" cy="1737360"/>
          </ns1:xfrm>
          <ns1:prstGeom prst="rect">
            <ns1:avLst/>
          </ns1:prstGeom>
          <ns1:noFill/>
        </ns0:spPr>
        <ns0:txBody>
          <ns1:bodyPr wrap="square">
            <ns1:spAutoFit/>
          </ns1:bodyPr>
          <ns1:lstStyle/>
          <ns1:p>
            <ns1:pPr>
              <ns1:spcAft>
                <ns1:spcPts val="800"/>
              </ns1:spcAft>
              <ns1:defRPr sz="1400" b="1">
                <ns1:solidFill>
                  <ns1:srgbClr val="111111"/>
                </ns1:solidFill>
              </ns1:defRPr>
            </ns1:pPr>
            <ns1:r>
              <ns1:t>💻  Code Arena &amp; Problem Solving Ledger</ns1:t>
            </ns1:r>
          </ns1:p>
          <ns1:p>
            <ns1:pPr>
              <ns1:defRPr sz="1100">
                <ns1:solidFill>
                  <ns1:srgbClr val="242220"/>
                </ns1:solidFill>
              </ns1:defRPr>
            </ns1:pPr>
            <ns1:r>
              <ns1:t>Built-in engineering coding environment with problem tracking, bug bounty challenges, solution submission, and student competitive leaderboard.</ns1:t>
            </ns1:r>
          </ns1:p>
        </ns0:txBody>
      </ns0:sp>
      <ns0:sp>
        <ns0:nvSpPr>
          <ns0:cNvPr id="12" name="Rounded Rectangle 11"/>
          <ns0:cNvSpPr/>
          <ns0:nvPr/>
        </ns0:nvSpPr>
        <ns0:spPr>
          <ns1:xfrm>
            <ns1:off x="731520" y="3840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960120" y="4023360"/>
            <ns1:ext cx="4800600" cy="1737360"/>
          </ns1:xfrm>
          <ns1:prstGeom prst="rect">
            <ns1:avLst/>
          </ns1:prstGeom>
          <ns1:noFill/>
        </ns0:spPr>
        <ns0:txBody>
          <ns1:bodyPr wrap="square">
            <ns1:spAutoFit/>
          </ns1:bodyPr>
          <ns1:lstStyle/>
          <ns1:p>
            <ns1:pPr>
              <ns1:spcAft>
                <ns1:spcPts val="800"/>
              </ns1:spcAft>
              <ns1:defRPr sz="1400" b="1">
                <ns1:solidFill>
                  <ns1:srgbClr val="111111"/>
                </ns1:solidFill>
              </ns1:defRPr>
            </ns1:pPr>
            <ns1:r>
              <ns1:t>🚪  Find Faculty Cabin Search Engine</ns1:t>
            </ns1:r>
          </ns1:p>
          <ns1:p>
            <ns1:pPr>
              <ns1:defRPr sz="1100">
                <ns1:solidFill>
                  <ns1:srgbClr val="242220"/>
                </ns1:solidFill>
              </ns1:defRPr>
            </ns1:pPr>
            <ns1:r>
              <ns1:t>Instant campus search bar in the top navigation allowing students to locate faculty cabin numbers, floor levels, and campus blocks (Block 1, Block 3, etc.) in seconds.</ns1:t>
            </ns1:r>
          </ns1:p>
        </ns0:txBody>
      </ns0:sp>
      <ns0:sp>
        <ns0:nvSpPr>
          <ns0:cNvPr id="14" name="Rounded Rectangle 13"/>
          <ns0:cNvSpPr/>
          <ns0:nvPr/>
        </ns0:nvSpPr>
        <ns0:spPr>
          <ns1:xfrm>
            <ns1:off x="6172200" y="3840480"/>
            <ns1:ext cx="5257800" cy="210312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6400800" y="4023360"/>
            <ns1:ext cx="4800600" cy="1737360"/>
          </ns1:xfrm>
          <ns1:prstGeom prst="rect">
            <ns1:avLst/>
          </ns1:prstGeom>
          <ns1:noFill/>
        </ns0:spPr>
        <ns0:txBody>
          <ns1:bodyPr wrap="square">
            <ns1:spAutoFit/>
          </ns1:bodyPr>
          <ns1:lstStyle/>
          <ns1:p>
            <ns1:pPr>
              <ns1:spcAft>
                <ns1:spcPts val="800"/>
              </ns1:spcAft>
              <ns1:defRPr sz="1400" b="1">
                <ns1:solidFill>
                  <ns1:srgbClr val="111111"/>
                </ns1:solidFill>
              </ns1:defRPr>
            </ns1:pPr>
            <ns1:r>
              <ns1:t>🧭  Streamlined Non-Redundant Navigation</ns1:t>
            </ns1:r>
          </ns1:p>
          <ns1:p>
            <ns1:pPr>
              <ns1:defRPr sz="1100">
                <ns1:solidFill>
                  <ns1:srgbClr val="242220"/>
                </ns1:solidFill>
              </ns1:defRPr>
            </ns1:pPr>
            <ns1:r>
              <ns1:t>Deduplicated user experience: Top Navbar hosts global modules (Growth Hub, Career Profile, AI Chatbot, Research Wing, Code Arena); Left Sidebar provides focused management.</ns1:t>
            </ns1:r>
          </ns1:p>
        </ns0:txBody>
      </ns0:sp>
    </ns0:spTree>
  </ns0:cSld>
  <ns0:clrMapOvr>
    <ns1:masterClrMapping/>
  </ns0:clrMapOvr>
</ns0:sld>
</file>

<file path=ppt/slides/slide10.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731520" y="365760"/>
            <ns1:ext cx="9144000" cy="320040"/>
          </ns1:xfrm>
          <ns1:prstGeom prst="rect">
            <ns1:avLst/>
          </ns1:prstGeom>
          <ns1:noFill/>
        </ns0:spPr>
        <ns0:txBody>
          <ns1:bodyPr wrap="square" lIns="0" rIns="0" tIns="0" bIns="0">
            <ns1:spAutoFit/>
          </ns1:bodyPr>
          <ns1:lstStyle/>
          <ns1:p>
            <ns1:pPr>
              <ns1:defRPr sz="1000" b="1">
                <ns1:solidFill>
                  <ns1:srgbClr val="111111"/>
                </ns1:solidFill>
              </ns1:defRPr>
            </ns1:pPr>
            <ns1:r>
              <ns1:t>EVALUATION SUMMARY &amp; NEXT MILESTONES</ns1:t>
            </ns1:r>
          </ns1:p>
        </ns0:txBody>
      </ns0:sp>
      <ns0:sp>
        <ns0:nvSpPr>
          <ns0:cNvPr id="4" name="TextBox 3"/>
          <ns0:cNvSpPr txBox="1"/>
          <ns0:nvPr/>
        </ns0:nvSpPr>
        <ns0:spPr>
          <ns1:xfrm>
            <ns1:off x="731520" y="685800"/>
            <ns1:ext cx="10698480" cy="731520"/>
          </ns1:xfrm>
          <ns1:prstGeom prst="rect">
            <ns1:avLst/>
          </ns1:prstGeom>
          <ns1:noFill/>
        </ns0:spPr>
        <ns0:txBody>
          <ns1:bodyPr wrap="square" lIns="0" rIns="0" tIns="0" bIns="0">
            <ns1:spAutoFit/>
          </ns1:bodyPr>
          <ns1:lstStyle/>
          <ns1:p>
            <ns1:pPr>
              <ns1:defRPr sz="2400" b="1">
                <ns1:solidFill>
                  <ns1:srgbClr val="111111"/>
                </ns1:solidFill>
              </ns1:defRPr>
            </ns1:pPr>
            <ns1:r>
              <ns1:t>Live Production Status, Achievements &amp; Future Roadmap</ns1:t>
            </ns1:r>
          </ns1:p>
        </ns0:txBody>
      </ns0:sp>
      <ns0:sp>
        <ns0:nvSpPr>
          <ns0:cNvPr id="5" name="Rectangle 4"/>
          <ns0:cNvSpPr/>
          <ns0:nvPr/>
        </ns0:nvSpPr>
        <ns0:spPr>
          <ns1:xfrm>
            <ns1:off x="731520" y="6400800"/>
            <ns1:ext cx="10728655" cy="18288"/>
          </ns1:xfrm>
          <ns1:prstGeom prst="rect">
            <ns1:avLst/>
          </ns1:prstGeom>
          <ns1:solidFill>
            <ns1:srgbClr val="E5DDD0"/>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6" name="TextBox 5"/>
          <ns0:cNvSpPr txBox="1"/>
          <ns0:nvPr/>
        </ns0:nvSpPr>
        <ns0:spPr>
          <ns1:xfrm>
            <ns1:off x="731520" y="6446520"/>
            <ns1:ext cx="8229600" cy="320040"/>
          </ns1:xfrm>
          <ns1:prstGeom prst="rect">
            <ns1:avLst/>
          </ns1:prstGeom>
          <ns1:noFill/>
        </ns0:spPr>
        <ns0:txBody>
          <ns1:bodyPr wrap="none">
            <ns1:spAutoFit/>
          </ns1:bodyPr>
          <ns1:lstStyle/>
          <ns1:p>
            <ns1:pPr>
              <ns1:defRPr sz="850">
                <ns1:solidFill>
                  <ns1:srgbClr val="635D56"/>
                </ns1:solidFill>
              </ns1:defRPr>
            </ns1:pPr>
            <ns1:r>
              <ns1:t>AcademicUniverse | Guide: Ms. Kamini, Co-Guide: Ms. Mekhala | Team: Kushagra, Aashish, Avdesh</ns1:t>
            </ns1:r>
          </ns1:p>
        </ns0:txBody>
      </ns0:sp>
      <ns0:sp>
        <ns0:nvSpPr>
          <ns0:cNvPr id="7" name="TextBox 6"/>
          <ns0:cNvSpPr txBox="1"/>
          <ns0:nvPr/>
        </ns0:nvSpPr>
        <ns0:spPr>
          <ns1:xfrm>
            <ns1:off x="10515600" y="6446520"/>
            <ns1:ext cx="914400" cy="320040"/>
          </ns1:xfrm>
          <ns1:prstGeom prst="rect">
            <ns1:avLst/>
          </ns1:prstGeom>
          <ns1:noFill/>
        </ns0:spPr>
        <ns0:txBody>
          <ns1:bodyPr wrap="none">
            <ns1:spAutoFit/>
          </ns1:bodyPr>
          <ns1:lstStyle/>
          <ns1:p>
            <ns1:pPr algn="r">
              <ns1:defRPr sz="950" b="1">
                <ns1:solidFill>
                  <ns1:srgbClr val="111111"/>
                </ns1:solidFill>
              </ns1:defRPr>
            </ns1:pPr>
            <ns1:r>
              <ns1:t>10 / 10</ns1:t>
            </ns1:r>
          </ns1:p>
        </ns0:txBody>
      </ns0:sp>
      <ns0:sp>
        <ns0:nvSpPr>
          <ns0:cNvPr id="8" name="Rounded Rectangle 7"/>
          <ns0:cNvSpPr/>
          <ns0:nvPr/>
        </ns0:nvSpPr>
        <ns0:spPr>
          <ns1:xfrm>
            <ns1:off x="731520" y="1554480"/>
            <ns1:ext cx="5257800" cy="4572000"/>
          </ns1:xfrm>
          <ns1:prstGeom prst="roundRect">
            <ns1:avLst/>
          </ns1:prstGeom>
          <ns1:solidFill>
            <ns1:srgbClr val="F7F3EB"/>
          </ns1:solidFill>
          <ns1:ln w="15240">
            <ns1:solidFill>
              <ns1:srgbClr val="DFD7CB"/>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1737360"/>
            <ns1:ext cx="4800600" cy="4206240"/>
          </ns1:xfrm>
          <ns1:prstGeom prst="rect">
            <ns1:avLst/>
          </ns1:prstGeom>
          <ns1:noFill/>
        </ns0:spPr>
        <ns0:txBody>
          <ns1:bodyPr wrap="square">
            <ns1:spAutoFit/>
          </ns1:bodyPr>
          <ns1:lstStyle/>
          <ns1:p>
            <ns1:pPr>
              <ns1:spcAft>
                <ns1:spcPts val="1000"/>
              </ns1:spcAft>
              <ns1:defRPr sz="1500" b="1">
                <ns1:solidFill>
                  <ns1:srgbClr val="111111"/>
                </ns1:solidFill>
              </ns1:defRPr>
            </ns1:pPr>
            <ns1:r>
              <ns1:t>Genuinely Completed &amp; Live Today</ns1:t>
            </ns1:r>
          </ns1:p>
          <ns1:p>
            <ns1:pPr>
              <ns1:spcAft>
                <ns1:spcPts val="500"/>
              </ns1:spcAft>
              <ns1:defRPr sz="1000" b="1">
                <ns1:solidFill>
                  <ns1:srgbClr val="242220"/>
                </ns1:solidFill>
              </ns1:defRPr>
            </ns1:pPr>
            <ns1:r>
              <ns1:t>✔ Vercel Production Deployment: </ns1:t>
            </ns1:r>
            <ns1:r>
              <ns1:rPr b="0">
                <ns1:solidFill>
                  <ns1:srgbClr val="635D56"/>
                </ns1:solidFill>
              </ns1:rPr>
              <ns1:t>Live at 'https://academicuniverse.vercel.app' with 50 static &amp; dynamic routes compiled cleanly via Turbopack.</ns1:t>
            </ns1:r>
          </ns1:p>
          <ns1:p>
            <ns1:pPr>
              <ns1:spcAft>
                <ns1:spcPts val="500"/>
              </ns1:spcAft>
              <ns1:defRPr sz="1000" b="1">
                <ns1:solidFill>
                  <ns1:srgbClr val="242220"/>
                </ns1:solidFill>
              </ns1:defRPr>
            </ns1:pPr>
            <ns1:r>
              <ns1:t>✔ Railway Backend Microservices: </ns1:t>
            </ns1:r>
            <ns1:r>
              <ns1:rPr b="0">
                <ns1:solidFill>
                  <ns1:srgbClr val="635D56"/>
                </ns1:solidFill>
              </ns1:rPr>
              <ns1:t>Containerized Express TypeScript backend with verified MongoDB Atlas &amp; Firebase Admin connectivity.</ns1:t>
            </ns1:r>
          </ns1:p>
          <ns1:p>
            <ns1:pPr>
              <ns1:spcAft>
                <ns1:spcPts val="500"/>
              </ns1:spcAft>
              <ns1:defRPr sz="1000" b="1">
                <ns1:solidFill>
                  <ns1:srgbClr val="242220"/>
                </ns1:solidFill>
              </ns1:defRPr>
            </ns1:pPr>
            <ns1:r>
              <ns1:t>✔ Authorized E-Zone Sync: </ns1:t>
            </ns1:r>
            <ns1:r>
              <ns1:rPr b="0">
                <ns1:solidFill>
                  <ns1:srgbClr val="635D56"/>
                </ns1:solidFill>
              </ns1:rPr>
              <ns1:t>Real Playwright automation syncing timetables, courses, and attendance via 2FA student email verification.</ns1:t>
            </ns1:r>
          </ns1:p>
          <ns1:p>
            <ns1:pPr>
              <ns1:spcAft>
                <ns1:spcPts val="500"/>
              </ns1:spcAft>
              <ns1:defRPr sz="1000" b="1">
                <ns1:solidFill>
                  <ns1:srgbClr val="242220"/>
                </ns1:solidFill>
              </ns1:defRPr>
            </ns1:pPr>
            <ns1:r>
              <ns1:t>✔ Contextual Gemini Chatbot: </ns1:t>
            </ns1:r>
            <ns1:r>
              <ns1:rPr b="0">
                <ns1:solidFill>
                  <ns1:srgbClr val="635D56"/>
                </ns1:solidFill>
              </ns1:rPr>
              <ns1:t>Inference live with classroom locations (Room 206 Block 3) and teacher names injected from database.</ns1:t>
            </ns1:r>
          </ns1:p>
          <ns1:p>
            <ns1:pPr>
              <ns1:spcAft>
                <ns1:spcPts val="500"/>
              </ns1:spcAft>
              <ns1:defRPr sz="1000" b="1">
                <ns1:solidFill>
                  <ns1:srgbClr val="242220"/>
                </ns1:solidFill>
              </ns1:defRPr>
            </ns1:pPr>
            <ns1:r>
              <ns1:t>✔ Functional Overlap Planner: </ns1:t>
            </ns1:r>
            <ns1:r>
              <ns1:rPr b="0">
                <ns1:solidFill>
                  <ns1:srgbClr val="635D56"/>
                </ns1:solidFill>
              </ns1:rPr>
              <ns1:t>Full N-way schedule intersection live with genuine student names and System IDs.</ns1:t>
            </ns1:r>
          </ns1:p>
          <ns1:p>
            <ns1:pPr>
              <ns1:spcAft>
                <ns1:spcPts val="500"/>
              </ns1:spcAft>
              <ns1:defRPr sz="1000" b="1">
                <ns1:solidFill>
                  <ns1:srgbClr val="242220"/>
                </ns1:solidFill>
              </ns1:defRPr>
            </ns1:pPr>
            <ns1:r>
              <ns1:t>✔ Zero-Mock Production Data: </ns1:t>
            </ns1:r>
            <ns1:r>
              <ns1:rPr b="0">
                <ns1:solidFill>
                  <ns1:srgbClr val="635D56"/>
                </ns1:solidFill>
              </ns1:rPr>
              <ns1:t>57+ verified academic records, 2 live timetables, and real authenticated student users.</ns1:t>
            </ns1:r>
          </ns1:p>
        </ns0:txBody>
      </ns0:sp>
      <ns0:sp>
        <ns0:nvSpPr>
          <ns0:cNvPr id="10" name="Rounded Rectangle 9"/>
          <ns0:cNvSpPr/>
          <ns0:nvPr/>
        </ns0:nvSpPr>
        <ns0:spPr>
          <ns1:xfrm>
            <ns1:off x="6172200" y="1554480"/>
            <ns1:ext cx="5287975" cy="4572000"/>
          </ns1:xfrm>
          <ns1:prstGeom prst="roundRect">
            <ns1:avLst/>
          </ns1:prstGeom>
          <ns1:solidFill>
            <ns1:srgbClr val="141414"/>
          </ns1:solidFill>
          <ns1:ln w="15240">
            <ns1:solidFill>
              <ns1:srgbClr val="333333"/>
            </ns1:solid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6400800" y="1737360"/>
            <ns1:ext cx="4846320" cy="4206240"/>
          </ns1:xfrm>
          <ns1:prstGeom prst="rect">
            <ns1:avLst/>
          </ns1:prstGeom>
          <ns1:noFill/>
        </ns0:spPr>
        <ns0:txBody>
          <ns1:bodyPr wrap="square">
            <ns1:spAutoFit/>
          </ns1:bodyPr>
          <ns1:lstStyle/>
          <ns1:p>
            <ns1:pPr>
              <ns1:spcAft>
                <ns1:spcPts val="1000"/>
              </ns1:spcAft>
              <ns1:defRPr sz="1500" b="1">
                <ns1:solidFill>
                  <ns1:srgbClr val="F7F3EB"/>
                </ns1:solidFill>
              </ns1:defRPr>
            </ns1:pPr>
            <ns1:r>
              <ns1:t>Upcoming Engineering Roadmap</ns1:t>
            </ns1:r>
          </ns1:p>
          <ns1:p>
            <ns1:pPr>
              <ns1:spcAft>
                <ns1:spcPts val="600"/>
              </ns1:spcAft>
              <ns1:defRPr sz="1000" b="1">
                <ns1:solidFill>
                  <ns1:srgbClr val="FFFFFF"/>
                </ns1:solidFill>
              </ns1:defRPr>
            </ns1:pPr>
            <ns1:r>
              <ns1:t>➔ Mobile Progressive Web App (PWA): </ns1:t>
            </ns1:r>
            <ns1:r>
              <ns1:rPr b="0">
                <ns1:solidFill>
                  <ns1:srgbClr val="E0DAD0"/>
                </ns1:solidFill>
              </ns1:rPr>
              <ns1:t>Offline timetable caching and fast home-screen launch on mobile devices.</ns1:t>
            </ns1:r>
          </ns1:p>
          <ns1:p>
            <ns1:pPr>
              <ns1:spcAft>
                <ns1:spcPts val="600"/>
              </ns1:spcAft>
              <ns1:defRPr sz="1000" b="1">
                <ns1:solidFill>
                  <ns1:srgbClr val="FFFFFF"/>
                </ns1:solidFill>
              </ns1:defRPr>
            </ns1:pPr>
            <ns1:r>
              <ns1:t>➔ Real-Time Push Notifications: </ns1:t>
            </ns1:r>
            <ns1:r>
              <ns1:rPr b="0">
                <ns1:solidFill>
                  <ns1:srgbClr val="E0DAD0"/>
                </ns1:solidFill>
              </ns1:rPr>
              <ns1:t>Instant WebPush alerts for classroom room-swaps and cancelled lecture periods.</ns1:t>
            </ns1:r>
          </ns1:p>
          <ns1:p>
            <ns1:pPr>
              <ns1:spcAft>
                <ns1:spcPts val="600"/>
              </ns1:spcAft>
              <ns1:defRPr sz="1000" b="1">
                <ns1:solidFill>
                  <ns1:srgbClr val="FFFFFF"/>
                </ns1:solidFill>
              </ns1:defRPr>
            </ns1:pPr>
            <ns1:r>
              <ns1:t>➔ Automated Peer Review &amp; Benchmarking: </ns1:t>
            </ns1:r>
            <ns1:r>
              <ns1:rPr b="0">
                <ns1:solidFill>
                  <ns1:srgbClr val="E0DAD0"/>
                </ns1:solidFill>
              </ns1:rPr>
              <ns1:t>Integration with AU DIC benchmark pipeline for evaluating AI academic papers.</ns1:t>
            </ns1:r>
          </ns1:p>
          <ns1:p>
            <ns1:pPr>
              <ns1:spcAft>
                <ns1:spcPts val="600"/>
              </ns1:spcAft>
              <ns1:defRPr sz="1000" b="1">
                <ns1:solidFill>
                  <ns1:srgbClr val="FFFFFF"/>
                </ns1:solidFill>
              </ns1:defRPr>
            </ns1:pPr>
            <ns1:r>
              <ns1:t>➔ Multi-University Tenant Expansion: </ns1:t>
            </ns1:r>
            <ns1:r>
              <ns1:rPr b="0">
                <ns1:solidFill>
                  <ns1:srgbClr val="E0DAD0"/>
                </ns1:solidFill>
              </ns1:rPr>
              <ns1:t>Expanding tenant isolation to support affiliated institutions beyond Sharda University.</ns1:t>
            </ns1:r>
          </ns1:p>
          <ns1:p>
            <ns1:pPr>
              <ns1:spcBef>
                <ns1:spcPts val="1200"/>
              </ns1:spcBef>
              <ns1:defRPr sz="1100" b="1">
                <ns1:solidFill>
                  <ns1:srgbClr val="F7F3EB"/>
                </ns1:solidFill>
              </ns1:defRPr>
            </ns1:pPr>
            <ns1:r>
              <ns1:t>THANK YOU! OPEN FOR QUESTIONS &amp; EVALUATION DEMO</ns1:t>
            </ns1:r>
          </ns1:p>
        </ns0:txBody>
      </ns0:sp>
    </ns0:spTree>
  </ns0:cSld>
  <ns0:clrMapOvr>
    <ns1:masterClrMapping/>
  </ns0:clrMapOvr>
</ns0:sld>
</file>

<file path=ppt/theme/theme1.xml><?xml version="1.0" encoding="utf-8"?>
<ns0:theme xmlns:ns0="http://schemas.openxmlformats.org/drawingml/2006/main" name="Office Theme">
  <ns0:themeElements>
    <ns0:clrScheme name="White Cream Black">
      <ns0:dk1>
        <ns0:sysClr val="windowText" lastClr="111111"/>
      </ns0:dk1>
      <ns0:lt1>
        <ns0:sysClr val="window" lastClr="FFFFFF"/>
      </ns0:lt1>
      <ns0:dk2>
        <ns0:srgbClr val="242220"/>
      </ns0:dk2>
      <ns0:lt2>
        <ns0:srgbClr val="F7F3EB"/>
      </ns0:lt2>
      <ns0:accent1>
        <ns0:srgbClr val="111111"/>
      </ns0:accent1>
      <ns0:accent2>
        <ns0:srgbClr val="D8CEBD"/>
      </ns0:accent2>
      <ns0:accent3>
        <ns0:srgbClr val="5A5550"/>
      </ns0:accent3>
      <ns0:accent4>
        <ns0:srgbClr val="EDE4D4"/>
      </ns0:accent4>
      <ns0:accent5>
        <ns0:srgbClr val="2D2A26"/>
      </ns0:accent5>
      <ns0:accent6>
        <ns0:srgbClr val="FAF6F0"/>
      </ns0:accent6>
      <ns0:hlink>
        <ns0:srgbClr val="0000FF"/>
      </ns0:hlink>
      <ns0:folHlink>
        <ns0:srgbClr val="800080"/>
      </ns0:folHlink>
    </ns0:clrScheme>
    <ns0:fontScheme name="Office">
      <ns0:majorFont>
        <ns0:latin typeface="Calibri"/>
        <ns0:ea typeface=""/>
        <ns0:cs typeface=""/>
        <ns0:font script="Jpan" typeface="ＭＳ Ｐゴシック"/>
        <ns0:font script="Hang" typeface="맑은 고딕"/>
        <ns0:font script="Hans" typeface="宋体"/>
        <ns0:font script="Hant" typeface="新細明體"/>
        <ns0:font script="Arab" typeface="Times New Roman"/>
        <ns0:font script="Hebr" typeface="Times New Roman"/>
        <ns0:font script="Thai" typeface="Angsana New"/>
        <ns0:font script="Ethi" typeface="Nyala"/>
        <ns0:font script="Beng" typeface="Vrinda"/>
        <ns0:font script="Gujr" typeface="Shruti"/>
        <ns0:font script="Khmr" typeface="MoolBoran"/>
        <ns0:font script="Knda" typeface="Tunga"/>
        <ns0:font script="Guru" typeface="Raavi"/>
        <ns0:font script="Cans" typeface="Euphemia"/>
        <ns0:font script="Cher" typeface="Plantagenet Cherokee"/>
        <ns0:font script="Yiii" typeface="Microsoft Yi Baiti"/>
        <ns0:font script="Tibt" typeface="Microsoft Himalaya"/>
        <ns0:font script="Thaa" typeface="MV Boli"/>
        <ns0:font script="Deva" typeface="Mangal"/>
        <ns0:font script="Telu" typeface="Gautami"/>
        <ns0:font script="Taml" typeface="Latha"/>
        <ns0:font script="Syrc" typeface="Estrangelo Edessa"/>
        <ns0:font script="Orya" typeface="Kalinga"/>
        <ns0:font script="Mlym" typeface="Kartika"/>
        <ns0:font script="Laoo" typeface="DokChampa"/>
        <ns0:font script="Sinh" typeface="Iskoola Pota"/>
        <ns0:font script="Mong" typeface="Mongolian Baiti"/>
        <ns0:font script="Viet" typeface="Times New Roman"/>
        <ns0:font script="Uigh" typeface="Microsoft Uighur"/>
        <ns0:font script="Geor" typeface="Sylfaen"/>
      </ns0:majorFont>
      <ns0:minorFont>
        <ns0:latin typeface="Calibri"/>
        <ns0:ea typeface=""/>
        <ns0:cs typeface=""/>
        <ns0:font script="Jpan" typeface="ＭＳ Ｐゴシック"/>
        <ns0:font script="Hang" typeface="맑은 고딕"/>
        <ns0:font script="Hans" typeface="宋体"/>
        <ns0:font script="Hant" typeface="新細明體"/>
        <ns0:font script="Arab" typeface="Arial"/>
        <ns0:font script="Hebr" typeface="Arial"/>
        <ns0:font script="Thai" typeface="Cordia New"/>
        <ns0:font script="Ethi" typeface="Nyala"/>
        <ns0:font script="Beng" typeface="Vrinda"/>
        <ns0:font script="Gujr" typeface="Shruti"/>
        <ns0:font script="Khmr" typeface="DaunPenh"/>
        <ns0:font script="Knda" typeface="Tunga"/>
        <ns0:font script="Guru" typeface="Raavi"/>
        <ns0:font script="Cans" typeface="Euphemia"/>
        <ns0:font script="Cher" typeface="Plantagenet Cherokee"/>
        <ns0:font script="Yiii" typeface="Microsoft Yi Baiti"/>
        <ns0:font script="Tibt" typeface="Microsoft Himalaya"/>
        <ns0:font script="Thaa" typeface="MV Boli"/>
        <ns0:font script="Deva" typeface="Mangal"/>
        <ns0:font script="Telu" typeface="Gautami"/>
        <ns0:font script="Taml" typeface="Latha"/>
        <ns0:font script="Syrc" typeface="Estrangelo Edessa"/>
        <ns0:font script="Orya" typeface="Kalinga"/>
        <ns0:font script="Mlym" typeface="Kartika"/>
        <ns0:font script="Laoo" typeface="DokChampa"/>
        <ns0:font script="Sinh" typeface="Iskoola Pota"/>
        <ns0:font script="Mong" typeface="Mongolian Baiti"/>
        <ns0:font script="Viet" typeface="Arial"/>
        <ns0:font script="Uigh" typeface="Microsoft Uighur"/>
        <ns0:font script="Geor" typeface="Sylfaen"/>
      </ns0:minorFont>
    </ns0:fontScheme>
    <ns0:fmtScheme name="Office">
      <ns0:fillStyleLst>
        <ns0:solidFill>
          <ns0:schemeClr val="phClr"/>
        </ns0:solidFill>
        <ns0:gradFill rotWithShape="1">
          <ns0:gsLst>
            <ns0:gs pos="0">
              <ns0:schemeClr val="phClr">
                <ns0:tint val="50000"/>
                <ns0:satMod val="300000"/>
              </ns0:schemeClr>
            </ns0:gs>
            <ns0:gs pos="35000">
              <ns0:schemeClr val="phClr">
                <ns0:tint val="37000"/>
                <ns0:satMod val="300000"/>
              </ns0:schemeClr>
            </ns0:gs>
            <ns0:gs pos="100000">
              <ns0:schemeClr val="phClr">
                <ns0:tint val="15000"/>
                <ns0:satMod val="350000"/>
              </ns0:schemeClr>
            </ns0:gs>
          </ns0:gsLst>
          <ns0:lin ang="16200000" scaled="1"/>
        </ns0:gradFill>
        <ns0:gradFill rotWithShape="1">
          <ns0:gsLst>
            <ns0:gs pos="0">
              <ns0:schemeClr val="phClr">
                <ns0:tint val="100000"/>
                <ns0:shade val="100000"/>
                <ns0:satMod val="130000"/>
              </ns0:schemeClr>
            </ns0:gs>
            <ns0:gs pos="100000">
              <ns0:schemeClr val="phClr">
                <ns0:tint val="50000"/>
                <ns0:shade val="100000"/>
                <ns0:satMod val="350000"/>
              </ns0:schemeClr>
            </ns0:gs>
          </ns0:gsLst>
          <ns0:lin ang="16200000" scaled="0"/>
        </ns0:gradFill>
      </ns0:fillStyleLst>
      <ns0:lnStyleLst>
        <ns0:ln w="9525" cap="flat" cmpd="sng" algn="ctr">
          <ns0:solidFill>
            <ns0:schemeClr val="phClr">
              <ns0:shade val="95000"/>
              <ns0:satMod val="105000"/>
            </ns0:schemeClr>
          </ns0:solidFill>
          <ns0:prstDash val="solid"/>
        </ns0:ln>
        <ns0:ln w="25400" cap="flat" cmpd="sng" algn="ctr">
          <ns0:solidFill>
            <ns0:schemeClr val="phClr"/>
          </ns0:solidFill>
          <ns0:prstDash val="solid"/>
        </ns0:ln>
        <ns0:ln w="38100" cap="flat" cmpd="sng" algn="ctr">
          <ns0:solidFill>
            <ns0:schemeClr val="phClr"/>
          </ns0:solidFill>
          <ns0:prstDash val="solid"/>
        </ns0:ln>
      </ns0:lnStyleLst>
      <ns0:effectStyleLst>
        <ns0:effectStyle>
          <ns0:effectLst>
            <ns0:outerShdw blurRad="40000" dist="20000" dir="5400000" rotWithShape="0">
              <ns0:srgbClr val="000000">
                <ns0:alpha val="38000"/>
              </ns0:srgbClr>
            </ns0:outerShdw>
          </ns0:effectLst>
        </ns0:effectStyle>
        <ns0:effectStyle>
          <ns0:effectLst>
            <ns0:outerShdw blurRad="40000" dist="23000" dir="5400000" rotWithShape="0">
              <ns0:srgbClr val="000000">
                <ns0:alpha val="35000"/>
              </ns0:srgbClr>
            </ns0:outerShdw>
          </ns0:effectLst>
        </ns0:effectStyle>
        <ns0:effectStyle>
          <ns0:effectLst>
            <ns0:outerShdw blurRad="40000" dist="23000" dir="5400000" rotWithShape="0">
              <ns0:srgbClr val="000000">
                <ns0:alpha val="35000"/>
              </ns0:srgbClr>
            </ns0:outerShdw>
          </ns0:effectLst>
          <ns0:scene3d>
            <ns0:camera prst="orthographicFront">
              <ns0:rot lat="0" lon="0" rev="0"/>
            </ns0:camera>
            <ns0:lightRig rig="threePt" dir="t">
              <ns0:rot lat="0" lon="0" rev="1200000"/>
            </ns0:lightRig>
          </ns0:scene3d>
          <ns0:sp3d>
            <ns0:bevelT w="63500" h="25400"/>
          </ns0:sp3d>
        </ns0:effectStyle>
      </ns0:effectStyleLst>
      <ns0:bgFillStyleLst>
        <ns0:solidFill>
          <ns0:schemeClr val="phClr"/>
        </ns0:solidFill>
        <ns0:gradFill rotWithShape="1">
          <ns0:gsLst>
            <ns0:gs pos="0">
              <ns0:schemeClr val="phClr">
                <ns0:tint val="40000"/>
                <ns0:satMod val="350000"/>
              </ns0:schemeClr>
            </ns0:gs>
            <ns0:gs pos="40000">
              <ns0:schemeClr val="phClr">
                <ns0:tint val="45000"/>
                <ns0:shade val="99000"/>
                <ns0:satMod val="350000"/>
              </ns0:schemeClr>
            </ns0:gs>
            <ns0:gs pos="100000">
              <ns0:schemeClr val="phClr">
                <ns0:shade val="20000"/>
                <ns0:satMod val="255000"/>
              </ns0:schemeClr>
            </ns0:gs>
          </ns0:gsLst>
          <ns0:path path="circle">
            <ns0:fillToRect l="50000" t="-80000" r="50000" b="180000"/>
          </ns0:path>
        </ns0:gradFill>
        <ns0:gradFill rotWithShape="1">
          <ns0:gsLst>
            <ns0:gs pos="0">
              <ns0:schemeClr val="phClr">
                <ns0:tint val="80000"/>
                <ns0:satMod val="300000"/>
              </ns0:schemeClr>
            </ns0:gs>
            <ns0:gs pos="100000">
              <ns0:schemeClr val="phClr">
                <ns0:shade val="30000"/>
                <ns0:satMod val="200000"/>
              </ns0:schemeClr>
            </ns0:gs>
          </ns0:gsLst>
          <ns0:path path="circle">
            <ns0:fillToRect l="50000" t="50000" r="50000" b="50000"/>
          </ns0:path>
        </ns0:gradFill>
      </ns0:bgFillStyleLst>
    </ns0:fmtScheme>
  </ns0:themeElements>
  <ns0:objectDefaults>
    <ns0:spDef>
      <ns0:spPr/>
      <ns0:bodyPr/>
      <ns0:lstStyle/>
      <ns0:style>
        <ns0:lnRef idx="1">
          <ns0:schemeClr val="accent1"/>
        </ns0:lnRef>
        <ns0:fillRef idx="3">
          <ns0:schemeClr val="accent1"/>
        </ns0:fillRef>
        <ns0:effectRef idx="2">
          <ns0:schemeClr val="accent1"/>
        </ns0:effectRef>
        <ns0:fontRef idx="minor">
          <ns0:schemeClr val="lt1"/>
        </ns0:fontRef>
      </ns0:style>
    </ns0:spDef>
    <ns0:lnDef>
      <ns0:spPr/>
      <ns0:bodyPr/>
      <ns0:lstStyle/>
      <ns0:style>
        <ns0:lnRef idx="2">
          <ns0:schemeClr val="accent1"/>
        </ns0:lnRef>
        <ns0:fillRef idx="0">
          <ns0:schemeClr val="accent1"/>
        </ns0:fillRef>
        <ns0:effectRef idx="1">
          <ns0:schemeClr val="accent1"/>
        </ns0:effectRef>
        <ns0:fontRef idx="minor">
          <ns0:schemeClr val="tx1"/>
        </ns0:fontRef>
      </ns0:style>
    </ns0:lnDef>
  </ns0:objectDefaults>
  <ns0:extraClrSchemeLst/>
</ns0: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